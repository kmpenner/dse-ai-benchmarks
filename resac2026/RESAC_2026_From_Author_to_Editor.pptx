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0:00 – 1:15 (1 min 15 sec)</a:t>
            </a:r>
          </a:p>
          <a:p>
            <a:r>
              <a:t>SPEAKER(S): Ken → Demarquis → Ken</a:t>
            </a:r>
          </a:p>
          <a:p/>
          <a:p>
            <a:r>
              <a:t>--- SPEAKER SCRIPT ---</a:t>
            </a:r>
          </a:p>
          <a:p/>
          <a:p>
            <a:r>
              <a:t>KEN: Thank you, and good afternoon. I'm Ken Penner, and this is Demarquis Moss, the research assistant on our SSHRC project. We'll start with two numbers from our own work.</a:t>
            </a:r>
          </a:p>
          <a:p/>
          <a:p>
            <a:r>
              <a:t>DEMARQUIS: It took me four to five hours to transcribe a single page of a Greek manuscript by hand. Checking the AI's transcription of that page, thoroughly, now takes me about twenty minutes.</a:t>
            </a:r>
          </a:p>
          <a:p/>
          <a:p>
            <a:r>
              <a:t>The same thing happened with lemmatization and morphological tagging. What used to take days is now a five-minute pass by the machine, followed by a human check that runs five to ten times faster than doing the tagging ourselves.</a:t>
            </a:r>
          </a:p>
          <a:p/>
          <a:p>
            <a:r>
              <a:t>KEN: So the question is no longer whether AI saves time in editing ancient texts. The question is where the saved time goes, and what that does to the people who do the work. That's what we want to talk about today.</a:t>
            </a:r>
          </a:p>
          <a:p/>
          <a:p>
            <a:r>
              <a:t>--- CONTEXT ---</a:t>
            </a:r>
          </a:p>
          <a:p>
            <a:r>
              <a:t>Conference: RESAC 2026 (Teaching, Technology, and the Future of Religious Studies). Session: Saturday, September 26, 2026, 1:30–3:00 PM, Panel 4, Memorial University. Format: 11 slides, about 15:45 delivery, plus Q&amp;A. Co-presenters: Dr. Ken M. Penner (Principal Investigator, St. Francis Xavier University) and Demarquis Moss (Lead Research Assistant). Project: SSHRC Insight Development Grant R0253025.</a:t>
            </a:r>
          </a:p>
          <a:p/>
          <a:p>
            <a:r>
              <a:t>Thesis: AI does not remove the scholar. It moves every member of the team up one rung: the drafting moves to the machine, and human effort shifts to the start and end of a project, where the most discernment is needed.</a:t>
            </a:r>
          </a:p>
          <a:p/>
          <a:p>
            <a:r>
              <a:t>Who speaks: Demarquis speaks in the first person where the evidence is his own work (his timings on Slide 1, the benchmark, the 90/10/1 flow, the limits, his example on Slide 8, the recommendations; about 7 minutes). Ken opens, carries the argument and closes (about 8½ minutes). Each slide's notes name its speaker; in the scripts, a name marks each change of speaker.</a:t>
            </a:r>
          </a:p>
          <a:p/>
          <a:p>
            <a:r>
              <a:t>Sources: Every figure comes from resac2026/clean_suite_master.csv and clean_suite_visual_cer.csv (57 configurations of 44 models that pass the coverage and cache-replay gates, rebuilt 2026-09-22) or from resac2026/PROVENANCE.md. The timing figures on Slides 1 and 3 are the project's own experience and are presented as such.</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1:15 – 2:30 (1 min 15 sec)</a:t>
            </a:r>
          </a:p>
          <a:p>
            <a:r>
              <a:t>SPEAKER(S): Demarquis</a:t>
            </a:r>
          </a:p>
          <a:p/>
          <a:p>
            <a:r>
              <a:t>--- SPEAKER SCRIPT ---</a:t>
            </a:r>
          </a:p>
          <a:p/>
          <a:p>
            <a:r>
              <a:t>DEMARQUIS: Those timings come from practice, so we also wanted a controlled test.</a:t>
            </a:r>
          </a:p>
          <a:p/>
          <a:p>
            <a:r>
              <a:t>We built an open benchmark, editio-bench, on three manuscripts that run from easy to very hard: a clean twelfth-century Latin page of Isidore, a sixth-century Greek uncial page of the Lives of the Prophets from Codex Marchalianus, and a damaged Dead Sea Scrolls fragment of the Aramaic Book of Giants.</a:t>
            </a:r>
          </a:p>
          <a:p/>
          <a:p>
            <a:r>
              <a:t>We didn't stop at transcription. The thirteen tasks cover the whole editorial workflow: transcribing from the image, collating witnesses, translating, handling lacunae, lemma and morphological annotation, and TEI encoding.</a:t>
            </a:r>
          </a:p>
          <a:p/>
          <a:p>
            <a:r>
              <a:t>We ran forty-four models in fifty-seven configurations, and a panel of three AI judges scored every answer against our human ground truth. We also audited the benchmark itself, and when some of our own headline numbers failed that audit, we withdrew them. Ken will come back to that, because it turns out to be part of the argument.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2:30 – 4:00 (1 min 30 sec)</a:t>
            </a:r>
          </a:p>
          <a:p>
            <a:r>
              <a:t>SPEAKER(S): Demarquis</a:t>
            </a:r>
          </a:p>
          <a:p/>
          <a:p>
            <a:r>
              <a:t>--- SPEAKER SCRIPT ---</a:t>
            </a:r>
          </a:p>
          <a:p/>
          <a:p>
            <a:r>
              <a:t>DEMARQUIS: Here's how the work actually flows now. Our rough impression is ninety, ten, one.</a:t>
            </a:r>
          </a:p>
          <a:p/>
          <a:p>
            <a:r>
              <a:t>About ninety percent of what the AI drafts is right as it stands. I revise the other ten percent. And about a tenth of those revisions, one percent of the whole, are hard enough that I take them to Ken.</a:t>
            </a:r>
          </a:p>
          <a:p/>
          <a:p>
            <a:r>
              <a:t>Those proportions are an impression, not a measurement. But they fit the benchmark: on our Greek page the best model's character error rate is under four percent. That's the text I'm checking in my twenty minutes.</a:t>
            </a:r>
          </a:p>
          <a:p/>
          <a:p>
            <a:r>
              <a:t>So the saving doesn't come from the machine doing the edition. It comes from a filter. The machine does the bulk, I catch what's wrong, and only the genuinely difficult questions reach Ken. That's where the order-of-magnitude reduction in human effort comes from.</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4:00 – 5:30 (1 min 30 sec)</a:t>
            </a:r>
          </a:p>
          <a:p>
            <a:r>
              <a:t>SPEAKER(S): Demarquis</a:t>
            </a:r>
          </a:p>
          <a:p/>
          <a:p>
            <a:r>
              <a:t>--- SPEAKER SCRIPT ---</a:t>
            </a:r>
          </a:p>
          <a:p/>
          <a:p>
            <a:r>
              <a:t>DEMARQUIS: That cascade has a precondition: the first draft has to be mostly right. And whether it is depends far more on the manuscript than on the model.</a:t>
            </a:r>
          </a:p>
          <a:p/>
          <a:p>
            <a:r>
              <a:t>On the clean Latin page, the typical configuration gets ninety-seven percent of characters right, and most configurations have an error rate under five percent. On the Greek uncial page, the median is around thirteen percent error, and a good share of models are excellent.</a:t>
            </a:r>
          </a:p>
          <a:p/>
          <a:p>
            <a:r>
              <a:t>On the Dead Sea Scrolls fragment, carbon ink on dark, broken leather, the median error rate is eighty percent, and even the best model gets sixty-three percent of characters wrong. There is nothing there worth editing.</a:t>
            </a:r>
          </a:p>
          <a:p/>
          <a:p>
            <a:r>
              <a:t>So the cascade breaks exactly where the material is hardest. On a legible page, I'm an editor. On a fragment like 4Q530, the scholar is still the author.</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5:30 – 7:00 (1 min 30 sec)</a:t>
            </a:r>
          </a:p>
          <a:p>
            <a:r>
              <a:t>SPEAKER(S): Ken</a:t>
            </a:r>
          </a:p>
          <a:p/>
          <a:p>
            <a:r>
              <a:t>--- SPEAKER SCRIPT ---</a:t>
            </a:r>
          </a:p>
          <a:p/>
          <a:p>
            <a:r>
              <a:t>KEN: The second lesson is that there's no single best model. The leader changes from task to task and from language to language.</a:t>
            </a:r>
          </a:p>
          <a:p/>
          <a:p>
            <a:r>
              <a:t>For collation, Grok 4.7 and GPT-6 Astra lead. For translation, Gemini 3.1 Pro and Grok 4.7 tie. For Latin as a whole, Gemini 3.7 Flash; for Greek, Gemini 3.1 Pro; and for Aramaic one model, Claude Fable, is well ahead of everyone else.</a:t>
            </a:r>
          </a:p>
          <a:p/>
          <a:p>
            <a:r>
              <a:t>That has a practical consequence. If you pick the best model for each task, and restrict yourself to cheap configurations under twenty cents for the whole suite, you get within about one point of the single best model, which costs at least eight times as much.</a:t>
            </a:r>
          </a:p>
          <a:p/>
          <a:p>
            <a:r>
              <a:t>So the question for a project isn't 'which AI should we use?' It's 'which model for which step, and in which language?'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7:00 – 8:15 (1 min 15 sec)</a:t>
            </a:r>
          </a:p>
          <a:p>
            <a:r>
              <a:t>SPEAKER(S): Ken</a:t>
            </a:r>
          </a:p>
          <a:p/>
          <a:p>
            <a:r>
              <a:t>--- SPEAKER SCRIPT ---</a:t>
            </a:r>
          </a:p>
          <a:p/>
          <a:p>
            <a:r>
              <a:t>KEN: Third, a principle that should guide decisions and standards: speed and cost tend to go together. Across our fifty-seven configurations, the models that take longer are, on the whole, the ones that cost more.</a:t>
            </a:r>
          </a:p>
          <a:p/>
          <a:p>
            <a:r>
              <a:t>What doesn't go with time is quality. The correlation between how long a model takes and how well it scores is essentially zero.</a:t>
            </a:r>
          </a:p>
          <a:p/>
          <a:p>
            <a:r>
              <a:t>We tested this directly by turning up the models' reasoning effort, telling them to think longer. For the three leading models, the high-effort setting cost more, took longer, and scored lower. GPT-6 Astra at high effort cost four times as much, took five times as long, and lost three points.</a:t>
            </a:r>
          </a:p>
          <a:p/>
          <a:p>
            <a:r>
              <a:t>So waiting longer for the machine doesn't buy you a better draft.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8:15 – 10:15 (2 min 00 sec)</a:t>
            </a:r>
          </a:p>
          <a:p>
            <a:r>
              <a:t>SPEAKER(S): Ken</a:t>
            </a:r>
          </a:p>
          <a:p/>
          <a:p>
            <a:r>
              <a:t>--- SPEAKER SCRIPT ---</a:t>
            </a:r>
          </a:p>
          <a:p/>
          <a:p>
            <a:r>
              <a:t>KEN: So where does the saved time go? Before AI, most of an editor's effort sat in the middle of a project: the trial and error of transcribing, tagging, collating. AI compresses that middle. What's left concentrates at the two ends.</a:t>
            </a:r>
          </a:p>
          <a:p/>
          <a:p>
            <a:r>
              <a:t>At the beginning, we shape the input: we set the parameters, the standards, the goals, the methods. At the end, we shape the output: we interpret the results and decide how to present them. I'd argue that's exactly where human effort belongs, because those are the stages that need the highest-level discernment.</a:t>
            </a:r>
          </a:p>
          <a:p/>
          <a:p>
            <a:r>
              <a:t>Our own benchmark is the best illustration we have. At the beginning: our best early Greek error rate was about ten percent. Much of that turned out not to be the models' fault. Our ground truth had staged the normalized edition as if it were the diplomatic transcription. Once we made a ruling on the diplomatic baseline, the best Greek error rate fell below four percent. Part of the 'difficulty' had been manufactured by our standards.</a:t>
            </a:r>
          </a:p>
          <a:p/>
          <a:p>
            <a:r>
              <a:t>At the end: our audit found a score of seventy-point-five that rested on only two of thirteen tasks. We found 'separate' runs that were really replays of the same run. And just this week we found two of our three AI judges giving a perfect score to a model that claimed no image had been attached, when it had been. No script flagged any of these. People did.</a:t>
            </a:r>
          </a:p>
          <a:p/>
          <a:p>
            <a:r>
              <a:t>That's what discernment at the ends of a project looks like.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10:15 – 12:00 (1 min 45 sec)</a:t>
            </a:r>
          </a:p>
          <a:p>
            <a:r>
              <a:t>SPEAKER(S): Ken → Demarquis → Ken</a:t>
            </a:r>
          </a:p>
          <a:p/>
          <a:p>
            <a:r>
              <a:t>--- SPEAKER SCRIPT ---</a:t>
            </a:r>
          </a:p>
          <a:p/>
          <a:p>
            <a:r>
              <a:t>KEN: Put those pieces together and you get what we think is the real change. The tasks a computer can do now are the tasks a research assistant used to do. The tasks a research assistant can do now are the tasks a supervisor used to do. And so on up. Every person on the team does higher-level work. Demarquis?</a:t>
            </a:r>
          </a:p>
          <a:p/>
          <a:p>
            <a:r>
              <a:t>DEMARQUIS: You can see it in my own work this summer, which went well beyond typing transcriptions. I ruled on disputed readings in our Latin ground truth against Chaparro Gómez's critical edition, and I audited whether our benchmark tasks and our AI judges were testing the right things. A few years ago, that would have been a supervisor's job.</a:t>
            </a:r>
          </a:p>
          <a:p/>
          <a:p>
            <a:r>
              <a:t>KEN: At every level, the human role shifts from author, the person who produces the first draft, to editor: the person who judges it, corrects it, and takes responsibility for it.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12:00 – 13:30 (1 min 30 sec)</a:t>
            </a:r>
          </a:p>
          <a:p>
            <a:r>
              <a:t>SPEAKER(S): Ken</a:t>
            </a:r>
          </a:p>
          <a:p/>
          <a:p>
            <a:r>
              <a:t>--- SPEAKER SCRIPT ---</a:t>
            </a:r>
          </a:p>
          <a:p/>
          <a:p>
            <a:r>
              <a:t>KEN: This is a teaching conference, so let me take the argument into the classroom.</a:t>
            </a:r>
          </a:p>
          <a:p/>
          <a:p>
            <a:r>
              <a:t>If everyone moves up a rung, students need to learn the whole ladder. My Digital Methods course spends one week on each phase of a digital scholarly edition, from cataloguing and imaging through transcription, collation, markup and translation, to presentation and publication.</a:t>
            </a:r>
          </a:p>
          <a:p/>
          <a:p>
            <a:r>
              <a:t>Each week we meet three times on the same task. First, by hand: we type the data ourselves. Second, with pre-AI computer tools, deterministic algorithms and purpose-built applications that do the same work more efficiently. Third, with general-purpose language models: we put the input into a form the model can work with, and then we curate what it produces.</a:t>
            </a:r>
          </a:p>
          <a:p/>
          <a:p>
            <a:r>
              <a:t>That third meeting trains exactly the shaping stages I described. And the first meeting is what makes the third possible: you can't judge a transcription you couldn't have made yourself.</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13:30 – 15:00 (1 min 30 sec)</a:t>
            </a:r>
          </a:p>
          <a:p>
            <a:r>
              <a:t>SPEAKER(S): Demarquis</a:t>
            </a:r>
          </a:p>
          <a:p/>
          <a:p>
            <a:r>
              <a:t>--- SPEAKER SCRIPT ---</a:t>
            </a:r>
          </a:p>
          <a:p/>
          <a:p>
            <a:r>
              <a:t>DEMARQUIS: People always ask which model to use, so here's our answer, with a warning: this is a snapshot of this month's runs, and it will be out of date in weeks, maybe days.</a:t>
            </a:r>
          </a:p>
          <a:p/>
          <a:p>
            <a:r>
              <a:t>On a budget, Gemini 3.7 Flash at low effort: about eighty out of a hundred for fourteen cents for the entire suite. For balance, GPT-6 Astra. For the highest quality, and especially for Aramaic, Claude Fable, at about twelve times the cost of Flash.</a:t>
            </a:r>
          </a:p>
          <a:p/>
          <a:p>
            <a:r>
              <a:t>Three rules will last longer than the table. Turn reasoning effort down as far as it goes. Free tiers are fine for experimenting, but don't expect paid-tier quality, and on a real project you'll hit their quotas. And run two different model families side by side: where they disagree is where you should look.</a:t>
            </a:r>
          </a:p>
          <a:p/>
          <a:p>
            <a:r>
              <a:t>Above all, the AI isn't doing the work for you. It speeds the work up by making you the editor instead of the author. The model list will change; that division of labour won't. So before you commit to a model, test it on a few pages of your own material.</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15:00 – 15:45 (45 sec)</a:t>
            </a:r>
          </a:p>
          <a:p>
            <a:r>
              <a:t>SPEAKER(S): Ken</a:t>
            </a:r>
          </a:p>
          <a:p/>
          <a:p>
            <a:r>
              <a:t>--- SPEAKER SCRIPT ---</a:t>
            </a:r>
          </a:p>
          <a:p/>
          <a:p>
            <a:r>
              <a:t>KEN: To sum up: AI doesn't replace the scholar. It moves every member of the team up one rung. The machine drafts, the research assistant edits, and the scholar's effort goes where it counts most: shaping the input at the start, and interpreting the output at the end.</a:t>
            </a:r>
          </a:p>
          <a:p/>
          <a:p>
            <a:r>
              <a:t>The benchmark, the data, and the record of every number we've shown you are openly available.</a:t>
            </a:r>
          </a:p>
          <a:p/>
          <a:p>
            <a:r>
              <a:t>Thank you. Demarquis and I look forward to your questions.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TIMING: Panel Discussion / Q&amp;A</a:t>
            </a:r>
          </a:p>
          <a:p>
            <a:r>
              <a:t>SPEAKER(S): Ken &amp; Demarquis</a:t>
            </a:r>
          </a:p>
          <a:p/>
          <a:p>
            <a:r>
              <a:t>--- SPEAKER SCRIPT ---</a:t>
            </a:r>
          </a:p>
          <a:p/>
          <a:p>
            <a:r>
              <a:t>Q1: Aren't the models just reciting published editions of these texts?</a:t>
            </a:r>
          </a:p>
          <a:p>
            <a:r>
              <a:t>Answer: Not for what we measured. No diplomatic transcription of this Greek page is published. The published Latin edition (Chaparro Gómez) is normalized, not diplomatic, so a model can't reproduce the scribe's abbreviations and letterforms by recalling it. The Aramaic fragment is where recall would help most, and it's where every model failed.</a:t>
            </a:r>
          </a:p>
          <a:p/>
          <a:p>
            <a:r>
              <a:t>Q2: What does this cost in practice?</a:t>
            </a:r>
          </a:p>
          <a:p>
            <a:r>
              <a:t>Answer: The budget configuration (Gemini 3.7 Flash, low effort) ran the full 13-task suite for $0.14 including judging — about a cent per task. The most expensive frontier configuration was about $1.72 for the suite.</a:t>
            </a:r>
          </a:p>
          <a:p/>
          <a:p>
            <a:r>
              <a:t>Q3: How solid is the 90/10/1 figure?</a:t>
            </a:r>
          </a:p>
          <a:p>
            <a:r>
              <a:t>Answer: It's our working impression from the project, not a measured rate, and it only holds on legible material (Slide 4). On a legible Greek page, the best model gets about 96% of characters right, which is consistent with it.</a:t>
            </a:r>
          </a:p>
          <a:p/>
          <a:p>
            <a:r>
              <a:t>Q4: Doesn't this deskill students and RAs?</a:t>
            </a:r>
          </a:p>
          <a:p>
            <a:r>
              <a:t>Answer: That's why the course keeps the by-hand meeting every week (Slide 9). The editor's judgment depends on being able to do the author's work; what changes is how much of it they have to do.</a:t>
            </a:r>
          </a:p>
          <a:p/>
          <a:p>
            <a:r>
              <a:t>Q5: How do you handle intellectual property and library image rights?</a:t>
            </a:r>
          </a:p>
          <a:p>
            <a:r>
              <a:t>Answer: All images (Vatican DigiVatLib, IAA Leon Levy) are ingested under academic fair dealing / research exceptions at calibrated resolutions, with raw high-resolution facsimiles remaining under institutional ownership.</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75488"/>
            <a:ext cx="10728655" cy="20116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219456"/>
          <a:lstStyle/>
          <a:p>
            <a:pPr algn="ctr">
              <a:defRPr sz="1600" b="1">
                <a:solidFill>
                  <a:srgbClr val="93C5FD"/>
                </a:solidFill>
              </a:defRPr>
            </a:pPr>
            <a:r>
              <a:t>RESAC 2026 · MEMORIAL UNIVERSITY · PANEL 4</a:t>
            </a:r>
          </a:p>
          <a:p>
            <a:pPr>
              <a:spcBef>
                <a:spcPts val="400"/>
              </a:spcBef>
              <a:defRPr sz="3000" b="1">
                <a:solidFill>
                  <a:srgbClr val="FFFFFF"/>
                </a:solidFill>
              </a:defRPr>
            </a:pPr>
            <a:r>
              <a:t>Digitizing Ancient Religious Texts in the Age of AI</a:t>
            </a:r>
          </a:p>
          <a:p>
            <a:pPr>
              <a:spcBef>
                <a:spcPts val="300"/>
              </a:spcBef>
              <a:defRPr sz="1900">
                <a:solidFill>
                  <a:srgbClr val="E0E7FF"/>
                </a:solidFill>
              </a:defRPr>
            </a:pPr>
            <a:r>
              <a:t>From Author to Editor: Moving the Scholarly Team Up One Rung</a:t>
            </a:r>
          </a:p>
          <a:p>
            <a:pPr>
              <a:spcBef>
                <a:spcPts val="600"/>
              </a:spcBef>
              <a:defRPr sz="1600">
                <a:solidFill>
                  <a:srgbClr val="C7D2FE"/>
                </a:solidFill>
              </a:defRPr>
            </a:pPr>
            <a:r>
              <a:t>Dr. Ken M. Penner &amp; Demarquis Moss · St. Francis Xavier University · SSHRC IDG R0253025</a:t>
            </a:r>
          </a:p>
        </p:txBody>
      </p:sp>
      <p:sp>
        <p:nvSpPr>
          <p:cNvPr id="4" name="Rounded Rectangle 3"/>
          <p:cNvSpPr/>
          <p:nvPr/>
        </p:nvSpPr>
        <p:spPr>
          <a:xfrm>
            <a:off x="731520" y="2788920"/>
            <a:ext cx="5212080" cy="3611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56032"/>
          <a:lstStyle/>
          <a:p>
            <a:pPr algn="ctr">
              <a:defRPr sz="1600" b="1">
                <a:solidFill>
                  <a:srgbClr val="0284C7"/>
                </a:solidFill>
              </a:defRPr>
            </a:pPr>
            <a:r>
              <a:t>GREEK UNCIAL TRANSCRIPTION</a:t>
            </a:r>
          </a:p>
          <a:p>
            <a:pPr>
              <a:spcBef>
                <a:spcPts val="600"/>
              </a:spcBef>
              <a:defRPr sz="2800" b="1">
                <a:solidFill>
                  <a:srgbClr val="0F172A"/>
                </a:solidFill>
              </a:defRPr>
            </a:pPr>
            <a:r>
              <a:t>4–5 Hours  ➔  ~20 Min</a:t>
            </a:r>
          </a:p>
          <a:p>
            <a:pPr>
              <a:spcBef>
                <a:spcPts val="1000"/>
              </a:spcBef>
              <a:defRPr sz="1700">
                <a:solidFill>
                  <a:srgbClr val="475569"/>
                </a:solidFill>
              </a:defRPr>
            </a:pPr>
            <a:r>
              <a:t>• Manual transcription: 4–5 hours per page of 6th-c. uncial scriptio continua.</a:t>
            </a:r>
          </a:p>
          <a:p>
            <a:pPr>
              <a:spcBef>
                <a:spcPts val="800"/>
              </a:spcBef>
              <a:defRPr sz="1700">
                <a:solidFill>
                  <a:srgbClr val="475569"/>
                </a:solidFill>
              </a:defRPr>
            </a:pPr>
            <a:r>
              <a:t>• Auditing AI draft: ~20 minutes for rigorous human verification.</a:t>
            </a:r>
          </a:p>
          <a:p>
            <a:pPr>
              <a:spcBef>
                <a:spcPts val="1000"/>
              </a:spcBef>
              <a:defRPr sz="1700" b="1">
                <a:solidFill>
                  <a:srgbClr val="1E3A8A"/>
                </a:solidFill>
              </a:defRPr>
            </a:pPr>
            <a:r>
              <a:t>➔ Order-of-magnitude reduction in keystroke labor.</a:t>
            </a:r>
          </a:p>
        </p:txBody>
      </p:sp>
      <p:sp>
        <p:nvSpPr>
          <p:cNvPr id="5" name="Rounded Rectangle 4"/>
          <p:cNvSpPr/>
          <p:nvPr/>
        </p:nvSpPr>
        <p:spPr>
          <a:xfrm>
            <a:off x="6217920" y="2788920"/>
            <a:ext cx="5212080" cy="3611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56032"/>
          <a:lstStyle/>
          <a:p>
            <a:pPr algn="ctr">
              <a:defRPr sz="1600" b="1">
                <a:solidFill>
                  <a:srgbClr val="B45309"/>
                </a:solidFill>
              </a:defRPr>
            </a:pPr>
            <a:r>
              <a:t>LEMMAS &amp; MORPHOLOGICAL TAGGING</a:t>
            </a:r>
          </a:p>
          <a:p>
            <a:pPr>
              <a:spcBef>
                <a:spcPts val="600"/>
              </a:spcBef>
              <a:defRPr sz="2800" b="1">
                <a:solidFill>
                  <a:srgbClr val="0F172A"/>
                </a:solidFill>
              </a:defRPr>
            </a:pPr>
            <a:r>
              <a:t>Days of Work  ➔  ~5 Min</a:t>
            </a:r>
          </a:p>
          <a:p>
            <a:pPr>
              <a:spcBef>
                <a:spcPts val="1000"/>
              </a:spcBef>
              <a:defRPr sz="1700">
                <a:solidFill>
                  <a:srgbClr val="475569"/>
                </a:solidFill>
              </a:defRPr>
            </a:pPr>
            <a:r>
              <a:t>• Manual tagging: Days of inflectional parsing and lexical lookup.</a:t>
            </a:r>
          </a:p>
          <a:p>
            <a:pPr>
              <a:spcBef>
                <a:spcPts val="800"/>
              </a:spcBef>
              <a:defRPr sz="1700">
                <a:solidFill>
                  <a:srgbClr val="475569"/>
                </a:solidFill>
              </a:defRPr>
            </a:pPr>
            <a:r>
              <a:t>• AI-assisted pass: ~5 minutes of automated machine inference.</a:t>
            </a:r>
          </a:p>
          <a:p>
            <a:pPr>
              <a:spcBef>
                <a:spcPts val="1000"/>
              </a:spcBef>
              <a:defRPr sz="1700" b="1">
                <a:solidFill>
                  <a:srgbClr val="B45309"/>
                </a:solidFill>
              </a:defRPr>
            </a:pPr>
            <a:r>
              <a:t>➔ Human checking is 5–10× faster than tagging from scratch.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2 · EXPERIMENTAL DESIGN</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What We Tested: editio-bench</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One benchmark, three manuscripts across a damage gradient, and the entire editorial workflow</a:t>
            </a:r>
          </a:p>
        </p:txBody>
      </p:sp>
      <p:sp>
        <p:nvSpPr>
          <p:cNvPr id="6" name="Rounded Rectangle 5"/>
          <p:cNvSpPr/>
          <p:nvPr/>
        </p:nvSpPr>
        <p:spPr>
          <a:xfrm>
            <a:off x="731520" y="1737360"/>
            <a:ext cx="3328416" cy="28346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op_latin_vatlat629_f3v_lines1_4.jpg"/>
          <p:cNvPicPr>
            <a:picLocks noChangeAspect="1"/>
          </p:cNvPicPr>
          <p:nvPr/>
        </p:nvPicPr>
        <p:blipFill>
          <a:blip r:embed="rId2"/>
          <a:stretch>
            <a:fillRect/>
          </a:stretch>
        </p:blipFill>
        <p:spPr>
          <a:xfrm>
            <a:off x="914400" y="1901952"/>
            <a:ext cx="2962656" cy="1371600"/>
          </a:xfrm>
          <a:prstGeom prst="rect">
            <a:avLst/>
          </a:prstGeom>
        </p:spPr>
      </p:pic>
      <p:sp>
        <p:nvSpPr>
          <p:cNvPr id="8" name="TextBox 7"/>
          <p:cNvSpPr txBox="1"/>
          <p:nvPr/>
        </p:nvSpPr>
        <p:spPr>
          <a:xfrm>
            <a:off x="914400" y="3364992"/>
            <a:ext cx="2962656" cy="1097280"/>
          </a:xfrm>
          <a:prstGeom prst="rect">
            <a:avLst/>
          </a:prstGeom>
          <a:noFill/>
        </p:spPr>
        <p:txBody>
          <a:bodyPr wrap="square" lIns="0" tIns="0">
            <a:spAutoFit/>
          </a:bodyPr>
          <a:lstStyle/>
          <a:p>
            <a:pPr>
              <a:defRPr sz="1600" b="1">
                <a:solidFill>
                  <a:srgbClr val="15803D"/>
                </a:solidFill>
              </a:defRPr>
            </a:pPr>
            <a:r>
              <a:t>EASY / CLEAN</a:t>
            </a:r>
          </a:p>
          <a:p>
            <a:pPr>
              <a:spcBef>
                <a:spcPts val="300"/>
              </a:spcBef>
              <a:defRPr sz="1700" b="1">
                <a:solidFill>
                  <a:srgbClr val="0F172A"/>
                </a:solidFill>
              </a:defRPr>
            </a:pPr>
            <a:r>
              <a:t>Latin: Vat.lat.629 f. 3v</a:t>
            </a:r>
          </a:p>
          <a:p>
            <a:pPr>
              <a:spcBef>
                <a:spcPts val="200"/>
              </a:spcBef>
              <a:defRPr sz="1600">
                <a:solidFill>
                  <a:srgbClr val="475569"/>
                </a:solidFill>
              </a:defRPr>
            </a:pPr>
            <a:r>
              <a:t>Caroline minuscule (12th c.)</a:t>
            </a:r>
          </a:p>
        </p:txBody>
      </p:sp>
      <p:sp>
        <p:nvSpPr>
          <p:cNvPr id="9" name="Rounded Rectangle 8"/>
          <p:cNvSpPr/>
          <p:nvPr/>
        </p:nvSpPr>
        <p:spPr>
          <a:xfrm>
            <a:off x="4425696" y="1737360"/>
            <a:ext cx="3328416" cy="28346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rop_greek_marchalianus_p11_lines1_4.jpg"/>
          <p:cNvPicPr>
            <a:picLocks noChangeAspect="1"/>
          </p:cNvPicPr>
          <p:nvPr/>
        </p:nvPicPr>
        <p:blipFill>
          <a:blip r:embed="rId3"/>
          <a:stretch>
            <a:fillRect/>
          </a:stretch>
        </p:blipFill>
        <p:spPr>
          <a:xfrm>
            <a:off x="4608576" y="1901952"/>
            <a:ext cx="2962656" cy="1371600"/>
          </a:xfrm>
          <a:prstGeom prst="rect">
            <a:avLst/>
          </a:prstGeom>
        </p:spPr>
      </p:pic>
      <p:sp>
        <p:nvSpPr>
          <p:cNvPr id="11" name="TextBox 10"/>
          <p:cNvSpPr txBox="1"/>
          <p:nvPr/>
        </p:nvSpPr>
        <p:spPr>
          <a:xfrm>
            <a:off x="4608576" y="3364992"/>
            <a:ext cx="2962656" cy="1097280"/>
          </a:xfrm>
          <a:prstGeom prst="rect">
            <a:avLst/>
          </a:prstGeom>
          <a:noFill/>
        </p:spPr>
        <p:txBody>
          <a:bodyPr wrap="square" lIns="0" tIns="0">
            <a:spAutoFit/>
          </a:bodyPr>
          <a:lstStyle/>
          <a:p>
            <a:pPr>
              <a:defRPr sz="1600" b="1">
                <a:solidFill>
                  <a:srgbClr val="0284C7"/>
                </a:solidFill>
              </a:defRPr>
            </a:pPr>
            <a:r>
              <a:t>MODERATE / UNCIAL</a:t>
            </a:r>
          </a:p>
          <a:p>
            <a:pPr>
              <a:spcBef>
                <a:spcPts val="300"/>
              </a:spcBef>
              <a:defRPr sz="1700" b="1">
                <a:solidFill>
                  <a:srgbClr val="0F172A"/>
                </a:solidFill>
              </a:defRPr>
            </a:pPr>
            <a:r>
              <a:t>Greek: Vat. gr. 2125 p. 11</a:t>
            </a:r>
          </a:p>
          <a:p>
            <a:pPr>
              <a:spcBef>
                <a:spcPts val="200"/>
              </a:spcBef>
              <a:defRPr sz="1600">
                <a:solidFill>
                  <a:srgbClr val="475569"/>
                </a:solidFill>
              </a:defRPr>
            </a:pPr>
            <a:r>
              <a:t>Codex Marchalianus (6th c.)</a:t>
            </a:r>
          </a:p>
        </p:txBody>
      </p:sp>
      <p:sp>
        <p:nvSpPr>
          <p:cNvPr id="12" name="Rounded Rectangle 11"/>
          <p:cNvSpPr/>
          <p:nvPr/>
        </p:nvSpPr>
        <p:spPr>
          <a:xfrm>
            <a:off x="8119872" y="1737360"/>
            <a:ext cx="3328416" cy="28346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rop_aramaic_4q530_frag6.jpg"/>
          <p:cNvPicPr>
            <a:picLocks noChangeAspect="1"/>
          </p:cNvPicPr>
          <p:nvPr/>
        </p:nvPicPr>
        <p:blipFill>
          <a:blip r:embed="rId4"/>
          <a:stretch>
            <a:fillRect/>
          </a:stretch>
        </p:blipFill>
        <p:spPr>
          <a:xfrm>
            <a:off x="8302752" y="1901952"/>
            <a:ext cx="2962656" cy="1371600"/>
          </a:xfrm>
          <a:prstGeom prst="rect">
            <a:avLst/>
          </a:prstGeom>
        </p:spPr>
      </p:pic>
      <p:sp>
        <p:nvSpPr>
          <p:cNvPr id="14" name="TextBox 13"/>
          <p:cNvSpPr txBox="1"/>
          <p:nvPr/>
        </p:nvSpPr>
        <p:spPr>
          <a:xfrm>
            <a:off x="8302752" y="3364992"/>
            <a:ext cx="2962656" cy="1097280"/>
          </a:xfrm>
          <a:prstGeom prst="rect">
            <a:avLst/>
          </a:prstGeom>
          <a:noFill/>
        </p:spPr>
        <p:txBody>
          <a:bodyPr wrap="square" lIns="0" tIns="0">
            <a:spAutoFit/>
          </a:bodyPr>
          <a:lstStyle/>
          <a:p>
            <a:pPr>
              <a:defRPr sz="1600" b="1">
                <a:solidFill>
                  <a:srgbClr val="B91C1C"/>
                </a:solidFill>
              </a:defRPr>
            </a:pPr>
            <a:r>
              <a:t>VERY HARD / DAMAGED</a:t>
            </a:r>
          </a:p>
          <a:p>
            <a:pPr>
              <a:spcBef>
                <a:spcPts val="300"/>
              </a:spcBef>
              <a:defRPr sz="1700" b="1">
                <a:solidFill>
                  <a:srgbClr val="0F172A"/>
                </a:solidFill>
              </a:defRPr>
            </a:pPr>
            <a:r>
              <a:t>Aramaic: 4Q530 Frag. 6</a:t>
            </a:r>
          </a:p>
          <a:p>
            <a:pPr>
              <a:spcBef>
                <a:spcPts val="200"/>
              </a:spcBef>
              <a:defRPr sz="1600">
                <a:solidFill>
                  <a:srgbClr val="475569"/>
                </a:solidFill>
              </a:defRPr>
            </a:pPr>
            <a:r>
              <a:t>Book of Giants (DSS leather)</a:t>
            </a:r>
          </a:p>
        </p:txBody>
      </p:sp>
      <p:sp>
        <p:nvSpPr>
          <p:cNvPr id="15" name="Rounded Rectangle 14"/>
          <p:cNvSpPr/>
          <p:nvPr/>
        </p:nvSpPr>
        <p:spPr>
          <a:xfrm>
            <a:off x="731520" y="4754880"/>
            <a:ext cx="10728655" cy="685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1800" b="1">
                <a:solidFill>
                  <a:srgbClr val="0F172A"/>
                </a:solidFill>
              </a:defRPr>
            </a:pPr>
            <a:r>
              <a:t>Transcription  ➔  Collation  ➔  Translation  ➔  Lacunae  ➔  Morphology  ➔  TEI XML</a:t>
            </a:r>
          </a:p>
        </p:txBody>
      </p:sp>
      <p:sp>
        <p:nvSpPr>
          <p:cNvPr id="16" name="Rectangle 15"/>
          <p:cNvSpPr/>
          <p:nvPr/>
        </p:nvSpPr>
        <p:spPr>
          <a:xfrm>
            <a:off x="731520" y="5596128"/>
            <a:ext cx="10728655" cy="5943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tIns="128016"/>
          <a:lstStyle/>
          <a:p>
            <a:pPr algn="ctr">
              <a:defRPr sz="1600" b="1">
                <a:solidFill>
                  <a:srgbClr val="FFFFFF"/>
                </a:solidFill>
              </a:defRPr>
            </a:pPr>
            <a:r>
              <a:t>13 Scored Tasks  ·  44 Models  ·  57 Verified Configurations  ·  Three-Judge Consensus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3 · WORKFLOW ARCHITECTURE</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The Escalation Cascade: 90 / 10 / 1</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The saving comes from a scholarly filter, not from full autonomous generation</a:t>
            </a:r>
          </a:p>
        </p:txBody>
      </p:sp>
      <p:sp>
        <p:nvSpPr>
          <p:cNvPr id="6" name="Rounded Rectangle 5"/>
          <p:cNvSpPr/>
          <p:nvPr/>
        </p:nvSpPr>
        <p:spPr>
          <a:xfrm>
            <a:off x="731520" y="1737360"/>
            <a:ext cx="6217920" cy="1143000"/>
          </a:xfrm>
          <a:prstGeom prst="roundRect">
            <a:avLst/>
          </a:prstGeom>
          <a:solidFill>
            <a:srgbClr val="EEF2FF"/>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320040" tIns="146304"/>
          <a:lstStyle/>
          <a:p>
            <a:pPr algn="ctr">
              <a:defRPr sz="1700" b="1">
                <a:solidFill>
                  <a:srgbClr val="1E3A8A"/>
                </a:solidFill>
              </a:defRPr>
            </a:pPr>
            <a:r>
              <a:t>100%  —  COMPUTER DRAFTS EVERYTHING</a:t>
            </a:r>
          </a:p>
          <a:p>
            <a:pPr>
              <a:spcBef>
                <a:spcPts val="400"/>
              </a:spcBef>
              <a:defRPr sz="1600">
                <a:solidFill>
                  <a:srgbClr val="0F172A"/>
                </a:solidFill>
              </a:defRPr>
            </a:pPr>
            <a:r>
              <a:t>Machine generates candidate text across all tokens</a:t>
            </a:r>
          </a:p>
        </p:txBody>
      </p:sp>
      <p:sp>
        <p:nvSpPr>
          <p:cNvPr id="7" name="Rounded Rectangle 6"/>
          <p:cNvSpPr/>
          <p:nvPr/>
        </p:nvSpPr>
        <p:spPr>
          <a:xfrm>
            <a:off x="731520" y="3063239"/>
            <a:ext cx="6217920" cy="1143000"/>
          </a:xfrm>
          <a:prstGeom prst="roundRect">
            <a:avLst/>
          </a:prstGeom>
          <a:solidFill>
            <a:srgbClr val="E0F2FE"/>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320040" tIns="146304"/>
          <a:lstStyle/>
          <a:p>
            <a:pPr algn="ctr">
              <a:defRPr sz="1700" b="1">
                <a:solidFill>
                  <a:srgbClr val="0284C7"/>
                </a:solidFill>
              </a:defRPr>
            </a:pPr>
            <a:r>
              <a:t>~10%  —  RESEARCH ASSISTANT REVISES</a:t>
            </a:r>
          </a:p>
          <a:p>
            <a:pPr>
              <a:spcBef>
                <a:spcPts val="400"/>
              </a:spcBef>
              <a:defRPr sz="1600">
                <a:solidFill>
                  <a:srgbClr val="0F172A"/>
                </a:solidFill>
              </a:defRPr>
            </a:pPr>
            <a:r>
              <a:t>R.A. audits, catches errors, and corrects the draft</a:t>
            </a:r>
          </a:p>
        </p:txBody>
      </p:sp>
      <p:sp>
        <p:nvSpPr>
          <p:cNvPr id="8" name="Rounded Rectangle 7"/>
          <p:cNvSpPr/>
          <p:nvPr/>
        </p:nvSpPr>
        <p:spPr>
          <a:xfrm>
            <a:off x="731520" y="4389120"/>
            <a:ext cx="6217920" cy="1143000"/>
          </a:xfrm>
          <a:prstGeom prst="roundRect">
            <a:avLst/>
          </a:prstGeom>
          <a:solidFill>
            <a:srgbClr val="FEF3C7"/>
          </a:solidFill>
          <a:ln w="254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320040" tIns="146304"/>
          <a:lstStyle/>
          <a:p>
            <a:pPr algn="ctr">
              <a:defRPr sz="1700" b="1">
                <a:solidFill>
                  <a:srgbClr val="B45309"/>
                </a:solidFill>
              </a:defRPr>
            </a:pPr>
            <a:r>
              <a:t>~1%  —  ESCALATED TO SUPERVISOR / P.I.</a:t>
            </a:r>
          </a:p>
          <a:p>
            <a:pPr>
              <a:spcBef>
                <a:spcPts val="400"/>
              </a:spcBef>
              <a:defRPr sz="1600">
                <a:solidFill>
                  <a:srgbClr val="0F172A"/>
                </a:solidFill>
              </a:defRPr>
            </a:pPr>
            <a:r>
              <a:t>Only genuinely difficult Cruces reach senior review</a:t>
            </a:r>
          </a:p>
        </p:txBody>
      </p:sp>
      <p:sp>
        <p:nvSpPr>
          <p:cNvPr id="9" name="Rounded Rectangle 8"/>
          <p:cNvSpPr/>
          <p:nvPr/>
        </p:nvSpPr>
        <p:spPr>
          <a:xfrm>
            <a:off x="7223760" y="1737360"/>
            <a:ext cx="4236415" cy="39319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19456"/>
          <a:lstStyle/>
          <a:p>
            <a:pPr algn="ctr">
              <a:defRPr sz="1600" b="1">
                <a:solidFill>
                  <a:srgbClr val="0284C7"/>
                </a:solidFill>
              </a:defRPr>
            </a:pPr>
            <a:r>
              <a:t>EMPIRICAL GROUNDING</a:t>
            </a:r>
          </a:p>
          <a:p>
            <a:pPr>
              <a:spcBef>
                <a:spcPts val="300"/>
              </a:spcBef>
              <a:defRPr sz="2000" b="1">
                <a:solidFill>
                  <a:srgbClr val="0F172A"/>
                </a:solidFill>
              </a:defRPr>
            </a:pPr>
            <a:r>
              <a:t>Greek Codex Marchalianus p. 11</a:t>
            </a:r>
          </a:p>
          <a:p>
            <a:pPr>
              <a:spcBef>
                <a:spcPts val="800"/>
              </a:spcBef>
              <a:defRPr sz="1700" b="1">
                <a:solidFill>
                  <a:srgbClr val="1E3A8A"/>
                </a:solidFill>
              </a:defRPr>
            </a:pPr>
            <a:r>
              <a:t>• Best model CER: 0.0365 (&lt; 4% Error)</a:t>
            </a:r>
          </a:p>
          <a:p>
            <a:pPr>
              <a:spcBef>
                <a:spcPts val="600"/>
              </a:spcBef>
              <a:defRPr sz="1600">
                <a:solidFill>
                  <a:srgbClr val="475569"/>
                </a:solidFill>
              </a:defRPr>
            </a:pPr>
            <a:r>
              <a:t>• ~96% of characters right before human review.</a:t>
            </a:r>
          </a:p>
          <a:p>
            <a:pPr>
              <a:spcBef>
                <a:spcPts val="600"/>
              </a:spcBef>
              <a:defRPr sz="1600">
                <a:solidFill>
                  <a:srgbClr val="475569"/>
                </a:solidFill>
              </a:defRPr>
            </a:pPr>
            <a:r>
              <a:t>• The R.A.'s 20-minute check IS the 10% filter.</a:t>
            </a:r>
          </a:p>
          <a:p>
            <a:pPr>
              <a:spcBef>
                <a:spcPts val="1000"/>
              </a:spcBef>
              <a:defRPr sz="1600" b="1">
                <a:solidFill>
                  <a:srgbClr val="B45309"/>
                </a:solidFill>
              </a:defRPr>
            </a:pPr>
            <a:r>
              <a:t>➔ Effort compresses because scholars edit rather than authoring from scratch.</a:t>
            </a:r>
          </a:p>
        </p:txBody>
      </p:sp>
      <p:sp>
        <p:nvSpPr>
          <p:cNvPr id="10" name="TextBox 9"/>
          <p:cNvSpPr txBox="1"/>
          <p:nvPr/>
        </p:nvSpPr>
        <p:spPr>
          <a:xfrm>
            <a:off x="731520" y="5897880"/>
            <a:ext cx="10698480" cy="365760"/>
          </a:xfrm>
          <a:prstGeom prst="rect">
            <a:avLst/>
          </a:prstGeom>
          <a:noFill/>
        </p:spPr>
        <p:txBody>
          <a:bodyPr wrap="none">
            <a:spAutoFit/>
          </a:bodyPr>
          <a:lstStyle/>
          <a:p>
            <a:pPr>
              <a:defRPr sz="1600" i="1">
                <a:solidFill>
                  <a:srgbClr val="475569"/>
                </a:solidFill>
              </a:defRPr>
            </a:pPr>
            <a:r>
              <a:t>* 90/10/1 is our project working impression, consistent with benchmark error distributions.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4 · EPIGRAPHIC LIMITS</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Limitations: Where the Cascade Breaks</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The cascade holds on clean manuscripts, but breaks completely on degraded physical materials</a:t>
            </a:r>
          </a:p>
        </p:txBody>
      </p:sp>
      <p:graphicFrame>
        <p:nvGraphicFramePr>
          <p:cNvPr id="6" name="Table 5"/>
          <p:cNvGraphicFramePr>
            <a:graphicFrameLocks noGrp="1"/>
          </p:cNvGraphicFramePr>
          <p:nvPr/>
        </p:nvGraphicFramePr>
        <p:xfrm>
          <a:off x="731520" y="1737360"/>
          <a:ext cx="10728655" cy="2377440"/>
        </p:xfrm>
        <a:graphic>
          <a:graphicData uri="http://schemas.openxmlformats.org/drawingml/2006/table">
            <a:tbl>
              <a:tblPr firstRow="1" bandRow="1">
                <a:tableStyleId>{5C22544A-7EE6-4342-B048-85BDC9FD1C3A}</a:tableStyleId>
              </a:tblPr>
              <a:tblGrid>
                <a:gridCol w="3962095"/>
                <a:gridCol w="2194560"/>
                <a:gridCol w="2286000"/>
                <a:gridCol w="2286000"/>
              </a:tblGrid>
              <a:tr h="594360">
                <a:tc>
                  <a:txBody>
                    <a:bodyPr/>
                    <a:lstStyle/>
                    <a:p>
                      <a:pPr>
                        <a:defRPr sz="1600" b="1">
                          <a:solidFill>
                            <a:srgbClr val="FFFFFF"/>
                          </a:solidFill>
                        </a:defRPr>
                      </a:pPr>
                      <a:r>
                        <a:t>MANUSCRIPT TIER</a:t>
                      </a:r>
                    </a:p>
                  </a:txBody>
                  <a:tcPr>
                    <a:solidFill>
                      <a:srgbClr val="1E3A8A"/>
                    </a:solidFill>
                  </a:tcPr>
                </a:tc>
                <a:tc>
                  <a:txBody>
                    <a:bodyPr/>
                    <a:lstStyle/>
                    <a:p>
                      <a:pPr>
                        <a:defRPr sz="1600" b="1">
                          <a:solidFill>
                            <a:srgbClr val="FFFFFF"/>
                          </a:solidFill>
                        </a:defRPr>
                      </a:pPr>
                      <a:r>
                        <a:t>MEDIAN CER</a:t>
                      </a:r>
                    </a:p>
                  </a:txBody>
                  <a:tcPr>
                    <a:solidFill>
                      <a:srgbClr val="1E3A8A"/>
                    </a:solidFill>
                  </a:tcPr>
                </a:tc>
                <a:tc>
                  <a:txBody>
                    <a:bodyPr/>
                    <a:lstStyle/>
                    <a:p>
                      <a:pPr>
                        <a:defRPr sz="1600" b="1">
                          <a:solidFill>
                            <a:srgbClr val="FFFFFF"/>
                          </a:solidFill>
                        </a:defRPr>
                      </a:pPr>
                      <a:r>
                        <a:t>CONFIGS ≤ 0.05</a:t>
                      </a:r>
                    </a:p>
                  </a:txBody>
                  <a:tcPr>
                    <a:solidFill>
                      <a:srgbClr val="1E3A8A"/>
                    </a:solidFill>
                  </a:tcPr>
                </a:tc>
                <a:tc>
                  <a:txBody>
                    <a:bodyPr/>
                    <a:lstStyle/>
                    <a:p>
                      <a:pPr>
                        <a:defRPr sz="1600" b="1">
                          <a:solidFill>
                            <a:srgbClr val="FFFFFF"/>
                          </a:solidFill>
                        </a:defRPr>
                      </a:pPr>
                      <a:r>
                        <a:t>SCHOLAR'S ROLE</a:t>
                      </a:r>
                    </a:p>
                  </a:txBody>
                  <a:tcPr>
                    <a:solidFill>
                      <a:srgbClr val="1E3A8A"/>
                    </a:solidFill>
                  </a:tcPr>
                </a:tc>
              </a:tr>
              <a:tr h="594360">
                <a:tc>
                  <a:txBody>
                    <a:bodyPr/>
                    <a:lstStyle/>
                    <a:p>
                      <a:pPr>
                        <a:defRPr sz="1600"/>
                      </a:pPr>
                      <a:r>
                        <a:t>Latin: Vat.lat.629 (Caroline minuscule)</a:t>
                      </a:r>
                    </a:p>
                  </a:txBody>
                  <a:tcPr>
                    <a:solidFill>
                      <a:srgbClr val="FFFFFF"/>
                    </a:solidFill>
                  </a:tcPr>
                </a:tc>
                <a:tc>
                  <a:txBody>
                    <a:bodyPr/>
                    <a:lstStyle/>
                    <a:p>
                      <a:pPr>
                        <a:defRPr sz="1600"/>
                      </a:pPr>
                      <a:r>
                        <a:t>0.03 (97% correct)</a:t>
                      </a:r>
                    </a:p>
                  </a:txBody>
                  <a:tcPr>
                    <a:solidFill>
                      <a:srgbClr val="FFFFFF"/>
                    </a:solidFill>
                  </a:tcPr>
                </a:tc>
                <a:tc>
                  <a:txBody>
                    <a:bodyPr/>
                    <a:lstStyle/>
                    <a:p>
                      <a:pPr>
                        <a:defRPr sz="1600"/>
                      </a:pPr>
                      <a:r>
                        <a:t>37 of 57 configs</a:t>
                      </a:r>
                    </a:p>
                  </a:txBody>
                  <a:tcPr>
                    <a:solidFill>
                      <a:srgbClr val="FFFFFF"/>
                    </a:solidFill>
                  </a:tcPr>
                </a:tc>
                <a:tc>
                  <a:txBody>
                    <a:bodyPr/>
                    <a:lstStyle/>
                    <a:p>
                      <a:pPr>
                        <a:defRPr b="1" sz="1600">
                          <a:solidFill>
                            <a:srgbClr val="15803D"/>
                          </a:solidFill>
                        </a:defRPr>
                      </a:pPr>
                      <a:r>
                        <a:t>Editor (Cascade Holds)</a:t>
                      </a:r>
                    </a:p>
                  </a:txBody>
                  <a:tcPr>
                    <a:solidFill>
                      <a:srgbClr val="FFFFFF"/>
                    </a:solidFill>
                  </a:tcPr>
                </a:tc>
              </a:tr>
              <a:tr h="594360">
                <a:tc>
                  <a:txBody>
                    <a:bodyPr/>
                    <a:lstStyle/>
                    <a:p>
                      <a:pPr>
                        <a:defRPr sz="1600"/>
                      </a:pPr>
                      <a:r>
                        <a:t>Greek: Vat. gr. 2125 (Uncial scriptio continua)</a:t>
                      </a:r>
                    </a:p>
                  </a:txBody>
                  <a:tcPr>
                    <a:solidFill>
                      <a:srgbClr val="F1F5F9"/>
                    </a:solidFill>
                  </a:tcPr>
                </a:tc>
                <a:tc>
                  <a:txBody>
                    <a:bodyPr/>
                    <a:lstStyle/>
                    <a:p>
                      <a:pPr>
                        <a:defRPr sz="1600"/>
                      </a:pPr>
                      <a:r>
                        <a:t>0.13 (best 0.0365)</a:t>
                      </a:r>
                    </a:p>
                  </a:txBody>
                  <a:tcPr>
                    <a:solidFill>
                      <a:srgbClr val="F1F5F9"/>
                    </a:solidFill>
                  </a:tcPr>
                </a:tc>
                <a:tc>
                  <a:txBody>
                    <a:bodyPr/>
                    <a:lstStyle/>
                    <a:p>
                      <a:pPr>
                        <a:defRPr sz="1600"/>
                      </a:pPr>
                      <a:r>
                        <a:t>14 of 56 configs</a:t>
                      </a:r>
                    </a:p>
                  </a:txBody>
                  <a:tcPr>
                    <a:solidFill>
                      <a:srgbClr val="F1F5F9"/>
                    </a:solidFill>
                  </a:tcPr>
                </a:tc>
                <a:tc>
                  <a:txBody>
                    <a:bodyPr/>
                    <a:lstStyle/>
                    <a:p>
                      <a:pPr>
                        <a:defRPr b="1" sz="1600">
                          <a:solidFill>
                            <a:srgbClr val="0284C7"/>
                          </a:solidFill>
                        </a:defRPr>
                      </a:pPr>
                      <a:r>
                        <a:t>Editor (Cascade Holds)</a:t>
                      </a:r>
                    </a:p>
                  </a:txBody>
                  <a:tcPr>
                    <a:solidFill>
                      <a:srgbClr val="F1F5F9"/>
                    </a:solidFill>
                  </a:tcPr>
                </a:tc>
              </a:tr>
              <a:tr h="594360">
                <a:tc>
                  <a:txBody>
                    <a:bodyPr/>
                    <a:lstStyle/>
                    <a:p>
                      <a:pPr>
                        <a:defRPr sz="1600"/>
                      </a:pPr>
                      <a:r>
                        <a:t>Aramaic: 4Q530 (Broken leather fragment)</a:t>
                      </a:r>
                    </a:p>
                  </a:txBody>
                  <a:tcPr>
                    <a:solidFill>
                      <a:srgbClr val="FFFFFF"/>
                    </a:solidFill>
                  </a:tcPr>
                </a:tc>
                <a:tc>
                  <a:txBody>
                    <a:bodyPr/>
                    <a:lstStyle/>
                    <a:p>
                      <a:pPr>
                        <a:defRPr sz="1600"/>
                      </a:pPr>
                      <a:r>
                        <a:t>0.80 (best 0.63)</a:t>
                      </a:r>
                    </a:p>
                  </a:txBody>
                  <a:tcPr>
                    <a:solidFill>
                      <a:srgbClr val="FFFFFF"/>
                    </a:solidFill>
                  </a:tcPr>
                </a:tc>
                <a:tc>
                  <a:txBody>
                    <a:bodyPr/>
                    <a:lstStyle/>
                    <a:p>
                      <a:pPr>
                        <a:defRPr sz="1600"/>
                      </a:pPr>
                      <a:r>
                        <a:t>0 of 57 configs</a:t>
                      </a:r>
                    </a:p>
                  </a:txBody>
                  <a:tcPr>
                    <a:solidFill>
                      <a:srgbClr val="FFFFFF"/>
                    </a:solidFill>
                  </a:tcPr>
                </a:tc>
                <a:tc>
                  <a:txBody>
                    <a:bodyPr/>
                    <a:lstStyle/>
                    <a:p>
                      <a:pPr>
                        <a:defRPr b="1" sz="1600">
                          <a:solidFill>
                            <a:srgbClr val="B91C1C"/>
                          </a:solidFill>
                        </a:defRPr>
                      </a:pPr>
                      <a:r>
                        <a:t>Author (Cascade Breaks)</a:t>
                      </a:r>
                    </a:p>
                  </a:txBody>
                  <a:tcPr>
                    <a:solidFill>
                      <a:srgbClr val="FFFFFF"/>
                    </a:solidFill>
                  </a:tcPr>
                </a:tc>
              </a:tr>
            </a:tbl>
          </a:graphicData>
        </a:graphic>
      </p:graphicFrame>
      <p:sp>
        <p:nvSpPr>
          <p:cNvPr id="7" name="Rounded Rectangle 6"/>
          <p:cNvSpPr/>
          <p:nvPr/>
        </p:nvSpPr>
        <p:spPr>
          <a:xfrm>
            <a:off x="731520" y="4343400"/>
            <a:ext cx="5212080" cy="19659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182880"/>
          <a:lstStyle/>
          <a:p>
            <a:pPr algn="ctr">
              <a:defRPr sz="1700" b="1">
                <a:solidFill>
                  <a:srgbClr val="B91C1C"/>
                </a:solidFill>
              </a:defRPr>
            </a:pPr>
            <a:r>
              <a:t>ARAMAIC VISUAL SCORE: 7.0 / 100</a:t>
            </a:r>
          </a:p>
          <a:p>
            <a:pPr>
              <a:spcBef>
                <a:spcPts val="400"/>
              </a:spcBef>
              <a:defRPr sz="1600">
                <a:solidFill>
                  <a:srgbClr val="475569"/>
                </a:solidFill>
              </a:defRPr>
            </a:pPr>
            <a:r>
              <a:t>• Text-based tasks score 72–87 / 100.</a:t>
            </a:r>
            <a:br/>
            <a:r>
              <a:t>• Visual transcription of damaged leather collapses to 7.0 / 100 average.</a:t>
            </a:r>
            <a:br/>
            <a:r>
              <a:t>• Frontier model gets 63% of letters wrong.</a:t>
            </a:r>
          </a:p>
        </p:txBody>
      </p:sp>
      <p:sp>
        <p:nvSpPr>
          <p:cNvPr id="8" name="Rounded Rectangle 7"/>
          <p:cNvSpPr/>
          <p:nvPr/>
        </p:nvSpPr>
        <p:spPr>
          <a:xfrm>
            <a:off x="6217920" y="4343400"/>
            <a:ext cx="5212080" cy="1965960"/>
          </a:xfrm>
          <a:prstGeom prst="roundRect">
            <a:avLst/>
          </a:prstGeom>
          <a:solidFill>
            <a:srgbClr val="F1F5F9"/>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182880"/>
          <a:lstStyle/>
          <a:p>
            <a:pPr algn="ctr">
              <a:defRPr sz="1700" b="1">
                <a:solidFill>
                  <a:srgbClr val="0284C7"/>
                </a:solidFill>
              </a:defRPr>
            </a:pPr>
            <a:r>
              <a:t>THE CARDINAL EPIGRAPHIC RULE</a:t>
            </a:r>
          </a:p>
          <a:p>
            <a:pPr>
              <a:spcBef>
                <a:spcPts val="400"/>
              </a:spcBef>
              <a:defRPr sz="1600">
                <a:solidFill>
                  <a:srgbClr val="0F172A"/>
                </a:solidFill>
              </a:defRPr>
            </a:pPr>
            <a:r>
              <a:t>• On legible manuscripts: The AI draft is high quality; the scholar acts as an Editor.</a:t>
            </a:r>
          </a:p>
          <a:p>
            <a:pPr>
              <a:spcBef>
                <a:spcPts val="400"/>
              </a:spcBef>
              <a:defRPr sz="1600" b="1">
                <a:solidFill>
                  <a:srgbClr val="1E3A8A"/>
                </a:solidFill>
              </a:defRPr>
            </a:pPr>
            <a:r>
              <a:t>• On degraded fragments: There is nothing worth editing; the scholar is still the Author.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5 · MODEL SELECTION STRATEGY</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Use Different Models for Different Tasks and Languages</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No single model dominates; effective projects assemble task specialists</a:t>
            </a:r>
          </a:p>
        </p:txBody>
      </p:sp>
      <p:graphicFrame>
        <p:nvGraphicFramePr>
          <p:cNvPr id="6" name="Table 5"/>
          <p:cNvGraphicFramePr>
            <a:graphicFrameLocks noGrp="1"/>
          </p:cNvGraphicFramePr>
          <p:nvPr/>
        </p:nvGraphicFramePr>
        <p:xfrm>
          <a:off x="731520" y="1737360"/>
          <a:ext cx="5669280" cy="2926080"/>
        </p:xfrm>
        <a:graphic>
          <a:graphicData uri="http://schemas.openxmlformats.org/drawingml/2006/table">
            <a:tbl>
              <a:tblPr firstRow="1" bandRow="1">
                <a:tableStyleId>{5C22544A-7EE6-4342-B048-85BDC9FD1C3A}</a:tableStyleId>
              </a:tblPr>
              <a:tblGrid>
                <a:gridCol w="2011680"/>
                <a:gridCol w="3657600"/>
              </a:tblGrid>
              <a:tr h="487680">
                <a:tc>
                  <a:txBody>
                    <a:bodyPr/>
                    <a:lstStyle/>
                    <a:p>
                      <a:pPr>
                        <a:defRPr sz="1600" b="1">
                          <a:solidFill>
                            <a:srgbClr val="FFFFFF"/>
                          </a:solidFill>
                        </a:defRPr>
                      </a:pPr>
                      <a:r>
                        <a:t>TASK / CORPUS</a:t>
                      </a:r>
                    </a:p>
                  </a:txBody>
                  <a:tcPr>
                    <a:solidFill>
                      <a:srgbClr val="1E3A8A"/>
                    </a:solidFill>
                  </a:tcPr>
                </a:tc>
                <a:tc>
                  <a:txBody>
                    <a:bodyPr/>
                    <a:lstStyle/>
                    <a:p>
                      <a:pPr>
                        <a:defRPr sz="1600" b="1">
                          <a:solidFill>
                            <a:srgbClr val="FFFFFF"/>
                          </a:solidFill>
                        </a:defRPr>
                      </a:pPr>
                      <a:r>
                        <a:t>LEADING MODEL (SCORE / 100)</a:t>
                      </a:r>
                    </a:p>
                  </a:txBody>
                  <a:tcPr>
                    <a:solidFill>
                      <a:srgbClr val="1E3A8A"/>
                    </a:solidFill>
                  </a:tcPr>
                </a:tc>
              </a:tr>
              <a:tr h="487680">
                <a:tc>
                  <a:txBody>
                    <a:bodyPr/>
                    <a:lstStyle/>
                    <a:p>
                      <a:pPr>
                        <a:defRPr sz="1600"/>
                      </a:pPr>
                      <a:r>
                        <a:t>Collation</a:t>
                      </a:r>
                    </a:p>
                  </a:txBody>
                  <a:tcPr>
                    <a:solidFill>
                      <a:srgbClr val="FFFFFF"/>
                    </a:solidFill>
                  </a:tcPr>
                </a:tc>
                <a:tc>
                  <a:txBody>
                    <a:bodyPr/>
                    <a:lstStyle/>
                    <a:p>
                      <a:pPr>
                        <a:defRPr sz="1600"/>
                      </a:pPr>
                      <a:r>
                        <a:t>Grok 4.7 (96.7) · GPT-6 Astra (94.5)</a:t>
                      </a:r>
                    </a:p>
                  </a:txBody>
                  <a:tcPr>
                    <a:solidFill>
                      <a:srgbClr val="FFFFFF"/>
                    </a:solidFill>
                  </a:tcPr>
                </a:tc>
              </a:tr>
              <a:tr h="487680">
                <a:tc>
                  <a:txBody>
                    <a:bodyPr/>
                    <a:lstStyle/>
                    <a:p>
                      <a:pPr>
                        <a:defRPr sz="1600"/>
                      </a:pPr>
                      <a:r>
                        <a:t>Translation</a:t>
                      </a:r>
                    </a:p>
                  </a:txBody>
                  <a:tcPr>
                    <a:solidFill>
                      <a:srgbClr val="F1F5F9"/>
                    </a:solidFill>
                  </a:tcPr>
                </a:tc>
                <a:tc>
                  <a:txBody>
                    <a:bodyPr/>
                    <a:lstStyle/>
                    <a:p>
                      <a:pPr>
                        <a:defRPr sz="1600"/>
                      </a:pPr>
                      <a:r>
                        <a:t>Gemini 3.1 Pro (97.0) · Grok 4.7 (97.0)</a:t>
                      </a:r>
                    </a:p>
                  </a:txBody>
                  <a:tcPr>
                    <a:solidFill>
                      <a:srgbClr val="F1F5F9"/>
                    </a:solidFill>
                  </a:tcPr>
                </a:tc>
              </a:tr>
              <a:tr h="487680">
                <a:tc>
                  <a:txBody>
                    <a:bodyPr/>
                    <a:lstStyle/>
                    <a:p>
                      <a:pPr>
                        <a:defRPr sz="1600"/>
                      </a:pPr>
                      <a:r>
                        <a:t>Latin Corpus</a:t>
                      </a:r>
                    </a:p>
                  </a:txBody>
                  <a:tcPr>
                    <a:solidFill>
                      <a:srgbClr val="FFFFFF"/>
                    </a:solidFill>
                  </a:tcPr>
                </a:tc>
                <a:tc>
                  <a:txBody>
                    <a:bodyPr/>
                    <a:lstStyle/>
                    <a:p>
                      <a:pPr>
                        <a:defRPr sz="1600"/>
                      </a:pPr>
                      <a:r>
                        <a:t>Gemini 3.7 Flash (92.4)</a:t>
                      </a:r>
                    </a:p>
                  </a:txBody>
                  <a:tcPr>
                    <a:solidFill>
                      <a:srgbClr val="FFFFFF"/>
                    </a:solidFill>
                  </a:tcPr>
                </a:tc>
              </a:tr>
              <a:tr h="487680">
                <a:tc>
                  <a:txBody>
                    <a:bodyPr/>
                    <a:lstStyle/>
                    <a:p>
                      <a:pPr>
                        <a:defRPr sz="1600"/>
                      </a:pPr>
                      <a:r>
                        <a:t>Greek Corpus</a:t>
                      </a:r>
                    </a:p>
                  </a:txBody>
                  <a:tcPr>
                    <a:solidFill>
                      <a:srgbClr val="F1F5F9"/>
                    </a:solidFill>
                  </a:tcPr>
                </a:tc>
                <a:tc>
                  <a:txBody>
                    <a:bodyPr/>
                    <a:lstStyle/>
                    <a:p>
                      <a:pPr>
                        <a:defRPr sz="1600"/>
                      </a:pPr>
                      <a:r>
                        <a:t>Gemini 3.1 Pro (91.7)</a:t>
                      </a:r>
                    </a:p>
                  </a:txBody>
                  <a:tcPr>
                    <a:solidFill>
                      <a:srgbClr val="F1F5F9"/>
                    </a:solidFill>
                  </a:tcPr>
                </a:tc>
              </a:tr>
              <a:tr h="487680">
                <a:tc>
                  <a:txBody>
                    <a:bodyPr/>
                    <a:lstStyle/>
                    <a:p>
                      <a:pPr>
                        <a:defRPr sz="1600"/>
                      </a:pPr>
                      <a:r>
                        <a:t>Aramaic Corpus</a:t>
                      </a:r>
                    </a:p>
                  </a:txBody>
                  <a:tcPr>
                    <a:solidFill>
                      <a:srgbClr val="FFFFFF"/>
                    </a:solidFill>
                  </a:tcPr>
                </a:tc>
                <a:tc>
                  <a:txBody>
                    <a:bodyPr/>
                    <a:lstStyle/>
                    <a:p>
                      <a:pPr>
                        <a:defRPr sz="1600"/>
                      </a:pPr>
                      <a:r>
                        <a:t>Claude Fable 5.1 (87–91) · Next: 78.5</a:t>
                      </a:r>
                    </a:p>
                  </a:txBody>
                  <a:tcPr>
                    <a:solidFill>
                      <a:srgbClr val="FFFFFF"/>
                    </a:solidFill>
                  </a:tcPr>
                </a:tc>
              </a:tr>
            </a:tbl>
          </a:graphicData>
        </a:graphic>
      </p:graphicFrame>
      <p:sp>
        <p:nvSpPr>
          <p:cNvPr id="7" name="Rounded Rectangle 6"/>
          <p:cNvSpPr/>
          <p:nvPr/>
        </p:nvSpPr>
        <p:spPr>
          <a:xfrm>
            <a:off x="731520" y="4846320"/>
            <a:ext cx="5669280" cy="150876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defRPr sz="1600" b="1">
                <a:solidFill>
                  <a:srgbClr val="B45309"/>
                </a:solidFill>
              </a:defRPr>
            </a:pPr>
            <a:r>
              <a:t>BUDGET SPECIALISTS VS. SINGLE BEST</a:t>
            </a:r>
          </a:p>
          <a:p>
            <a:pPr>
              <a:spcBef>
                <a:spcPts val="400"/>
              </a:spcBef>
              <a:defRPr sz="1600">
                <a:solidFill>
                  <a:srgbClr val="0F172A"/>
                </a:solidFill>
              </a:defRPr>
            </a:pPr>
            <a:r>
              <a:t>• Best model per task (&lt; $0.20 / suite) ➔ 89.2 Score</a:t>
            </a:r>
            <a:br/>
            <a:r>
              <a:t>• Single best model overall ➔ 90.3 Score at $1.72</a:t>
            </a:r>
            <a:br/>
            <a:r>
              <a:t>➔ Save 8× budget for ~1 point of difference.</a:t>
            </a:r>
          </a:p>
        </p:txBody>
      </p:sp>
      <p:pic>
        <p:nvPicPr>
          <p:cNvPr id="8" name="Picture 7" descr="clean_chart_pareto_cost_by_task.png"/>
          <p:cNvPicPr>
            <a:picLocks noChangeAspect="1"/>
          </p:cNvPicPr>
          <p:nvPr/>
        </p:nvPicPr>
        <p:blipFill>
          <a:blip r:embed="rId2"/>
          <a:stretch>
            <a:fillRect/>
          </a:stretch>
        </p:blipFill>
        <p:spPr>
          <a:xfrm>
            <a:off x="6675120" y="1737360"/>
            <a:ext cx="475488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6 · LATENCY &amp; EFFICIENCY</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Speed and Cost Tend to Correlate</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Fast is usually cheap, and waiting longer does not buy higher philological quality</a:t>
            </a:r>
          </a:p>
        </p:txBody>
      </p:sp>
      <p:pic>
        <p:nvPicPr>
          <p:cNvPr id="6" name="Picture 5" descr="clean_chart_pareto_latency.png"/>
          <p:cNvPicPr>
            <a:picLocks noChangeAspect="1"/>
          </p:cNvPicPr>
          <p:nvPr/>
        </p:nvPicPr>
        <p:blipFill>
          <a:blip r:embed="rId2"/>
          <a:stretch>
            <a:fillRect/>
          </a:stretch>
        </p:blipFill>
        <p:spPr>
          <a:xfrm>
            <a:off x="731520" y="1737360"/>
            <a:ext cx="5212080" cy="3611880"/>
          </a:xfrm>
          <a:prstGeom prst="rect">
            <a:avLst/>
          </a:prstGeom>
        </p:spPr>
      </p:pic>
      <p:sp>
        <p:nvSpPr>
          <p:cNvPr id="7" name="Rectangle 6"/>
          <p:cNvSpPr/>
          <p:nvPr/>
        </p:nvSpPr>
        <p:spPr>
          <a:xfrm>
            <a:off x="731520" y="5532120"/>
            <a:ext cx="5212080" cy="731520"/>
          </a:xfrm>
          <a:prstGeom prst="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700" b="1">
                <a:solidFill>
                  <a:srgbClr val="0F172A"/>
                </a:solidFill>
              </a:defRPr>
            </a:pPr>
            <a:r>
              <a:t>Cost vs. Latency: r = 0.57  |  Quality vs. Latency: r ≈ 0.04</a:t>
            </a:r>
          </a:p>
        </p:txBody>
      </p:sp>
      <p:sp>
        <p:nvSpPr>
          <p:cNvPr id="8" name="Rounded Rectangle 7"/>
          <p:cNvSpPr/>
          <p:nvPr/>
        </p:nvSpPr>
        <p:spPr>
          <a:xfrm>
            <a:off x="6217920" y="1737360"/>
            <a:ext cx="5242255" cy="4526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01168"/>
          <a:lstStyle/>
          <a:p>
            <a:pPr algn="ctr">
              <a:defRPr sz="1600" b="1">
                <a:solidFill>
                  <a:srgbClr val="B91C1C"/>
                </a:solidFill>
              </a:defRPr>
            </a:pPr>
            <a:r>
              <a:t>THE REASONING-EFFORT PARADOX</a:t>
            </a:r>
          </a:p>
          <a:p>
            <a:pPr>
              <a:spcBef>
                <a:spcPts val="300"/>
              </a:spcBef>
              <a:defRPr sz="2000" b="1">
                <a:solidFill>
                  <a:srgbClr val="0F172A"/>
                </a:solidFill>
              </a:defRPr>
            </a:pPr>
            <a:r>
              <a:t>Higher 'Thinking' Effort Scored Lower</a:t>
            </a:r>
          </a:p>
        </p:txBody>
      </p:sp>
      <p:graphicFrame>
        <p:nvGraphicFramePr>
          <p:cNvPr id="9" name="Table 8"/>
          <p:cNvGraphicFramePr>
            <a:graphicFrameLocks noGrp="1"/>
          </p:cNvGraphicFramePr>
          <p:nvPr/>
        </p:nvGraphicFramePr>
        <p:xfrm>
          <a:off x="6446520" y="2651760"/>
          <a:ext cx="4754880" cy="1691640"/>
        </p:xfrm>
        <a:graphic>
          <a:graphicData uri="http://schemas.openxmlformats.org/drawingml/2006/table">
            <a:tbl>
              <a:tblPr firstRow="1" bandRow="1">
                <a:tableStyleId>{5C22544A-7EE6-4342-B048-85BDC9FD1C3A}</a:tableStyleId>
              </a:tblPr>
              <a:tblGrid>
                <a:gridCol w="1920240"/>
                <a:gridCol w="685800"/>
                <a:gridCol w="685800"/>
                <a:gridCol w="685800"/>
                <a:gridCol w="777240"/>
              </a:tblGrid>
              <a:tr h="422910">
                <a:tc>
                  <a:txBody>
                    <a:bodyPr/>
                    <a:lstStyle/>
                    <a:p>
                      <a:pPr>
                        <a:defRPr sz="1600" b="1">
                          <a:solidFill>
                            <a:srgbClr val="FFFFFF"/>
                          </a:solidFill>
                        </a:defRPr>
                      </a:pPr>
                      <a:r>
                        <a:t>MODEL</a:t>
                      </a:r>
                    </a:p>
                  </a:txBody>
                  <a:tcPr>
                    <a:solidFill>
                      <a:srgbClr val="1E3A8A"/>
                    </a:solidFill>
                  </a:tcPr>
                </a:tc>
                <a:tc>
                  <a:txBody>
                    <a:bodyPr/>
                    <a:lstStyle/>
                    <a:p>
                      <a:pPr>
                        <a:defRPr sz="1600" b="1">
                          <a:solidFill>
                            <a:srgbClr val="FFFFFF"/>
                          </a:solidFill>
                        </a:defRPr>
                      </a:pPr>
                      <a:r>
                        <a:t>NONE</a:t>
                      </a:r>
                    </a:p>
                  </a:txBody>
                  <a:tcPr>
                    <a:solidFill>
                      <a:srgbClr val="1E3A8A"/>
                    </a:solidFill>
                  </a:tcPr>
                </a:tc>
                <a:tc>
                  <a:txBody>
                    <a:bodyPr/>
                    <a:lstStyle/>
                    <a:p>
                      <a:pPr>
                        <a:defRPr sz="1600" b="1">
                          <a:solidFill>
                            <a:srgbClr val="FFFFFF"/>
                          </a:solidFill>
                        </a:defRPr>
                      </a:pPr>
                      <a:r>
                        <a:t>LOW</a:t>
                      </a:r>
                    </a:p>
                  </a:txBody>
                  <a:tcPr>
                    <a:solidFill>
                      <a:srgbClr val="1E3A8A"/>
                    </a:solidFill>
                  </a:tcPr>
                </a:tc>
                <a:tc>
                  <a:txBody>
                    <a:bodyPr/>
                    <a:lstStyle/>
                    <a:p>
                      <a:pPr>
                        <a:defRPr sz="1600" b="1">
                          <a:solidFill>
                            <a:srgbClr val="FFFFFF"/>
                          </a:solidFill>
                        </a:defRPr>
                      </a:pPr>
                      <a:r>
                        <a:t>HIGH</a:t>
                      </a:r>
                    </a:p>
                  </a:txBody>
                  <a:tcPr>
                    <a:solidFill>
                      <a:srgbClr val="1E3A8A"/>
                    </a:solidFill>
                  </a:tcPr>
                </a:tc>
                <a:tc>
                  <a:txBody>
                    <a:bodyPr/>
                    <a:lstStyle/>
                    <a:p>
                      <a:pPr>
                        <a:defRPr sz="1600" b="1">
                          <a:solidFill>
                            <a:srgbClr val="FFFFFF"/>
                          </a:solidFill>
                        </a:defRPr>
                      </a:pPr>
                      <a:r>
                        <a:t>EXTRA</a:t>
                      </a:r>
                    </a:p>
                  </a:txBody>
                  <a:tcPr>
                    <a:solidFill>
                      <a:srgbClr val="1E3A8A"/>
                    </a:solidFill>
                  </a:tcPr>
                </a:tc>
              </a:tr>
              <a:tr h="422910">
                <a:tc>
                  <a:txBody>
                    <a:bodyPr/>
                    <a:lstStyle/>
                    <a:p>
                      <a:pPr>
                        <a:defRPr sz="1600"/>
                      </a:pPr>
                      <a:r>
                        <a:t>Claude Fable 5.1</a:t>
                      </a:r>
                    </a:p>
                  </a:txBody>
                  <a:tcPr>
                    <a:solidFill>
                      <a:srgbClr val="FFFFFF"/>
                    </a:solidFill>
                  </a:tcPr>
                </a:tc>
                <a:tc>
                  <a:txBody>
                    <a:bodyPr/>
                    <a:lstStyle/>
                    <a:p>
                      <a:pPr>
                        <a:defRPr sz="1600"/>
                      </a:pPr>
                      <a:r>
                        <a:t>90.3</a:t>
                      </a:r>
                    </a:p>
                  </a:txBody>
                  <a:tcPr>
                    <a:solidFill>
                      <a:srgbClr val="FFFFFF"/>
                    </a:solidFill>
                  </a:tcPr>
                </a:tc>
                <a:tc>
                  <a:txBody>
                    <a:bodyPr/>
                    <a:lstStyle/>
                    <a:p>
                      <a:pPr>
                        <a:defRPr sz="1600"/>
                      </a:pPr>
                      <a:r>
                        <a:t>—</a:t>
                      </a:r>
                    </a:p>
                  </a:txBody>
                  <a:tcPr>
                    <a:solidFill>
                      <a:srgbClr val="FFFFFF"/>
                    </a:solidFill>
                  </a:tcPr>
                </a:tc>
                <a:tc>
                  <a:txBody>
                    <a:bodyPr/>
                    <a:lstStyle/>
                    <a:p>
                      <a:pPr>
                        <a:defRPr sz="1600" b="1">
                          <a:solidFill>
                            <a:srgbClr val="B91C1C"/>
                          </a:solidFill>
                        </a:defRPr>
                      </a:pPr>
                      <a:r>
                        <a:t>83.6</a:t>
                      </a:r>
                    </a:p>
                  </a:txBody>
                  <a:tcPr>
                    <a:solidFill>
                      <a:srgbClr val="FFFFFF"/>
                    </a:solidFill>
                  </a:tcPr>
                </a:tc>
                <a:tc>
                  <a:txBody>
                    <a:bodyPr/>
                    <a:lstStyle/>
                    <a:p>
                      <a:pPr>
                        <a:defRPr sz="1600"/>
                      </a:pPr>
                      <a:r>
                        <a:t>+22%</a:t>
                      </a:r>
                    </a:p>
                  </a:txBody>
                  <a:tcPr>
                    <a:solidFill>
                      <a:srgbClr val="FFFFFF"/>
                    </a:solidFill>
                  </a:tcPr>
                </a:tc>
              </a:tr>
              <a:tr h="422910">
                <a:tc>
                  <a:txBody>
                    <a:bodyPr/>
                    <a:lstStyle/>
                    <a:p>
                      <a:pPr>
                        <a:defRPr sz="1600"/>
                      </a:pPr>
                      <a:r>
                        <a:t>GPT-6 Astra</a:t>
                      </a:r>
                    </a:p>
                  </a:txBody>
                  <a:tcPr>
                    <a:solidFill>
                      <a:srgbClr val="F1F5F9"/>
                    </a:solidFill>
                  </a:tcPr>
                </a:tc>
                <a:tc>
                  <a:txBody>
                    <a:bodyPr/>
                    <a:lstStyle/>
                    <a:p>
                      <a:pPr>
                        <a:defRPr sz="1600"/>
                      </a:pPr>
                      <a:r>
                        <a:t>83.5</a:t>
                      </a:r>
                    </a:p>
                  </a:txBody>
                  <a:tcPr>
                    <a:solidFill>
                      <a:srgbClr val="F1F5F9"/>
                    </a:solidFill>
                  </a:tcPr>
                </a:tc>
                <a:tc>
                  <a:txBody>
                    <a:bodyPr/>
                    <a:lstStyle/>
                    <a:p>
                      <a:pPr>
                        <a:defRPr sz="1600"/>
                      </a:pPr>
                      <a:r>
                        <a:t>—</a:t>
                      </a:r>
                    </a:p>
                  </a:txBody>
                  <a:tcPr>
                    <a:solidFill>
                      <a:srgbClr val="F1F5F9"/>
                    </a:solidFill>
                  </a:tcPr>
                </a:tc>
                <a:tc>
                  <a:txBody>
                    <a:bodyPr/>
                    <a:lstStyle/>
                    <a:p>
                      <a:pPr>
                        <a:defRPr sz="1600" b="1">
                          <a:solidFill>
                            <a:srgbClr val="B91C1C"/>
                          </a:solidFill>
                        </a:defRPr>
                      </a:pPr>
                      <a:r>
                        <a:t>80.2</a:t>
                      </a:r>
                    </a:p>
                  </a:txBody>
                  <a:tcPr>
                    <a:solidFill>
                      <a:srgbClr val="F1F5F9"/>
                    </a:solidFill>
                  </a:tcPr>
                </a:tc>
                <a:tc>
                  <a:txBody>
                    <a:bodyPr/>
                    <a:lstStyle/>
                    <a:p>
                      <a:pPr>
                        <a:defRPr sz="1600"/>
                      </a:pPr>
                      <a:r>
                        <a:t>4.4×</a:t>
                      </a:r>
                    </a:p>
                  </a:txBody>
                  <a:tcPr>
                    <a:solidFill>
                      <a:srgbClr val="F1F5F9"/>
                    </a:solidFill>
                  </a:tcPr>
                </a:tc>
              </a:tr>
              <a:tr h="422910">
                <a:tc>
                  <a:txBody>
                    <a:bodyPr/>
                    <a:lstStyle/>
                    <a:p>
                      <a:pPr>
                        <a:defRPr sz="1600"/>
                      </a:pPr>
                      <a:r>
                        <a:t>Gemini 3.7 Flash</a:t>
                      </a:r>
                    </a:p>
                  </a:txBody>
                  <a:tcPr>
                    <a:solidFill>
                      <a:srgbClr val="FFFFFF"/>
                    </a:solidFill>
                  </a:tcPr>
                </a:tc>
                <a:tc>
                  <a:txBody>
                    <a:bodyPr/>
                    <a:lstStyle/>
                    <a:p>
                      <a:pPr>
                        <a:defRPr sz="1600"/>
                      </a:pPr>
                      <a:r>
                        <a:t>78.1</a:t>
                      </a:r>
                    </a:p>
                  </a:txBody>
                  <a:tcPr>
                    <a:solidFill>
                      <a:srgbClr val="FFFFFF"/>
                    </a:solidFill>
                  </a:tcPr>
                </a:tc>
                <a:tc>
                  <a:txBody>
                    <a:bodyPr/>
                    <a:lstStyle/>
                    <a:p>
                      <a:pPr>
                        <a:defRPr sz="1600"/>
                      </a:pPr>
                      <a:r>
                        <a:t>80.4</a:t>
                      </a:r>
                    </a:p>
                  </a:txBody>
                  <a:tcPr>
                    <a:solidFill>
                      <a:srgbClr val="FFFFFF"/>
                    </a:solidFill>
                  </a:tcPr>
                </a:tc>
                <a:tc>
                  <a:txBody>
                    <a:bodyPr/>
                    <a:lstStyle/>
                    <a:p>
                      <a:pPr>
                        <a:defRPr sz="1600" b="1">
                          <a:solidFill>
                            <a:srgbClr val="B91C1C"/>
                          </a:solidFill>
                        </a:defRPr>
                      </a:pPr>
                      <a:r>
                        <a:t>77.5</a:t>
                      </a:r>
                    </a:p>
                  </a:txBody>
                  <a:tcPr>
                    <a:solidFill>
                      <a:srgbClr val="FFFFFF"/>
                    </a:solidFill>
                  </a:tcPr>
                </a:tc>
                <a:tc>
                  <a:txBody>
                    <a:bodyPr/>
                    <a:lstStyle/>
                    <a:p>
                      <a:pPr>
                        <a:defRPr sz="1600"/>
                      </a:pPr>
                      <a:r>
                        <a:t>2×</a:t>
                      </a:r>
                    </a:p>
                  </a:txBody>
                  <a:tcPr>
                    <a:solidFill>
                      <a:srgbClr val="FFFFFF"/>
                    </a:solidFill>
                  </a:tcPr>
                </a:tc>
              </a:tr>
            </a:tbl>
          </a:graphicData>
        </a:graphic>
      </p:graphicFrame>
      <p:sp>
        <p:nvSpPr>
          <p:cNvPr id="10" name="TextBox 9"/>
          <p:cNvSpPr txBox="1"/>
          <p:nvPr/>
        </p:nvSpPr>
        <p:spPr>
          <a:xfrm>
            <a:off x="6446520" y="4572000"/>
            <a:ext cx="4754880" cy="1371600"/>
          </a:xfrm>
          <a:prstGeom prst="rect">
            <a:avLst/>
          </a:prstGeom>
          <a:noFill/>
        </p:spPr>
        <p:txBody>
          <a:bodyPr wrap="square" lIns="0" tIns="0">
            <a:spAutoFit/>
          </a:bodyPr>
          <a:lstStyle/>
          <a:p>
            <a:pPr>
              <a:defRPr sz="1600" b="1">
                <a:solidFill>
                  <a:srgbClr val="1E3A8A"/>
                </a:solidFill>
              </a:defRPr>
            </a:pPr>
            <a:r>
              <a:t>➔ Practical Rule: Set reasoning effort low or off. Extended thinking loops do not improve ancient text decipherment.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7 · SCHOLARLY ALLOCATION</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Where Human Effort Goes: The Shaping Stages</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AI compresses mechanical drafting; human effort concentrates at the two ends</a:t>
            </a:r>
          </a:p>
        </p:txBody>
      </p:sp>
      <p:sp>
        <p:nvSpPr>
          <p:cNvPr id="6" name="Rounded Rectangle 5"/>
          <p:cNvSpPr/>
          <p:nvPr/>
        </p:nvSpPr>
        <p:spPr>
          <a:xfrm>
            <a:off x="731520" y="1691640"/>
            <a:ext cx="10728655" cy="15087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146304"/>
          <a:lstStyle/>
          <a:p>
            <a:pPr algn="ctr">
              <a:defRPr sz="1600" b="1">
                <a:solidFill>
                  <a:srgbClr val="0284C7"/>
                </a:solidFill>
              </a:defRPr>
            </a:pPr>
            <a:r>
              <a:t>THE BOW-TIE MODEL OF EDITORIAL LABOR</a:t>
            </a:r>
          </a:p>
          <a:p>
            <a:pPr>
              <a:spcBef>
                <a:spcPts val="300"/>
              </a:spcBef>
              <a:defRPr sz="1600">
                <a:solidFill>
                  <a:srgbClr val="475569"/>
                </a:solidFill>
              </a:defRPr>
            </a:pPr>
            <a:r>
              <a:t>• BEFORE AI: Effort bulged in the middle (months of manual transcription, collation, tagging).</a:t>
            </a:r>
          </a:p>
          <a:p>
            <a:pPr>
              <a:spcBef>
                <a:spcPts val="200"/>
              </a:spcBef>
              <a:defRPr sz="1600" b="1">
                <a:solidFill>
                  <a:srgbClr val="0F172A"/>
                </a:solidFill>
              </a:defRPr>
            </a:pPr>
            <a:r>
              <a:t>• WITH AI: The middle is compressed. Human discernment concentrates at:</a:t>
            </a:r>
          </a:p>
          <a:p>
            <a:pPr>
              <a:spcBef>
                <a:spcPts val="200"/>
              </a:spcBef>
              <a:defRPr sz="1600" b="1">
                <a:solidFill>
                  <a:srgbClr val="1E3A8A"/>
                </a:solidFill>
              </a:defRPr>
            </a:pPr>
            <a:r>
              <a:t>    ➔ INPUT END: Setting parameters, standards, baselines, and philological goals.</a:t>
            </a:r>
            <a:br/>
            <a:r>
              <a:t>    ➔ OUTPUT END: Auditing results, resolving Cruces, and critical interpretation.</a:t>
            </a:r>
          </a:p>
        </p:txBody>
      </p:sp>
      <p:sp>
        <p:nvSpPr>
          <p:cNvPr id="7" name="Rounded Rectangle 6"/>
          <p:cNvSpPr/>
          <p:nvPr/>
        </p:nvSpPr>
        <p:spPr>
          <a:xfrm>
            <a:off x="731520" y="3401568"/>
            <a:ext cx="5212080" cy="3017520"/>
          </a:xfrm>
          <a:prstGeom prst="roundRect">
            <a:avLst/>
          </a:prstGeom>
          <a:solidFill>
            <a:srgbClr val="F1F5F9"/>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182880"/>
          <a:lstStyle/>
          <a:p>
            <a:pPr algn="ctr">
              <a:defRPr sz="1600" b="1">
                <a:solidFill>
                  <a:srgbClr val="0284C7"/>
                </a:solidFill>
              </a:defRPr>
            </a:pPr>
            <a:r>
              <a:t>INPUT: STANDARDS DECISION</a:t>
            </a:r>
          </a:p>
          <a:p>
            <a:pPr>
              <a:spcBef>
                <a:spcPts val="300"/>
              </a:spcBef>
              <a:defRPr sz="1800" b="1">
                <a:solidFill>
                  <a:srgbClr val="0F172A"/>
                </a:solidFill>
              </a:defRPr>
            </a:pPr>
            <a:r>
              <a:t>Greek Ground Truth &amp; Diplomatic Baseline</a:t>
            </a:r>
          </a:p>
          <a:p>
            <a:pPr>
              <a:spcBef>
                <a:spcPts val="600"/>
              </a:spcBef>
              <a:defRPr sz="1600">
                <a:solidFill>
                  <a:srgbClr val="475569"/>
                </a:solidFill>
              </a:defRPr>
            </a:pPr>
            <a:r>
              <a:t>• Initial CER was ~9.5% because ground truth tested normalized text.</a:t>
            </a:r>
            <a:br/>
            <a:r>
              <a:t>• Ken's ruling on diplomatic baseline (State C) dropped CER to 0.0365 (&lt;4%).</a:t>
            </a:r>
            <a:br/>
            <a:r>
              <a:t>➔ Apparent difficulty was manufactured by human standards.</a:t>
            </a:r>
          </a:p>
        </p:txBody>
      </p:sp>
      <p:sp>
        <p:nvSpPr>
          <p:cNvPr id="8" name="Rounded Rectangle 7"/>
          <p:cNvSpPr/>
          <p:nvPr/>
        </p:nvSpPr>
        <p:spPr>
          <a:xfrm>
            <a:off x="6217920" y="3401568"/>
            <a:ext cx="5212080" cy="3017520"/>
          </a:xfrm>
          <a:prstGeom prst="roundRect">
            <a:avLst/>
          </a:prstGeom>
          <a:solidFill>
            <a:srgbClr val="F1F5F9"/>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182880"/>
          <a:lstStyle/>
          <a:p>
            <a:pPr algn="ctr">
              <a:defRPr sz="1600" b="1">
                <a:solidFill>
                  <a:srgbClr val="B45309"/>
                </a:solidFill>
              </a:defRPr>
            </a:pPr>
            <a:r>
              <a:t>OUTPUT: HUMAN AUDIT CATCHES</a:t>
            </a:r>
          </a:p>
          <a:p>
            <a:pPr>
              <a:spcBef>
                <a:spcPts val="300"/>
              </a:spcBef>
              <a:defRPr sz="1800" b="1">
                <a:solidFill>
                  <a:srgbClr val="0F172A"/>
                </a:solidFill>
              </a:defRPr>
            </a:pPr>
            <a:r>
              <a:t>Catches That Automated Scripts Missed</a:t>
            </a:r>
          </a:p>
          <a:p>
            <a:pPr>
              <a:spcBef>
                <a:spcPts val="600"/>
              </a:spcBef>
              <a:defRPr sz="1600">
                <a:solidFill>
                  <a:srgbClr val="475569"/>
                </a:solidFill>
              </a:defRPr>
            </a:pPr>
            <a:r>
              <a:t>• Caught a headline 70.5 score resting on only 2 of 13 tasks.</a:t>
            </a:r>
            <a:br/>
            <a:r>
              <a:t>• Unmasked duplicate cache replays across runs.</a:t>
            </a:r>
            <a:br/>
            <a:r>
              <a:t>• Caught AI judges giving 100/100 on empty images.</a:t>
            </a:r>
            <a:br/>
            <a:r>
              <a:t>➔ Discovered by human auditors, not automated scripts.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8 · TEAM ROLES</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Everyone Moves Up a Rung</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At every level, the human role shifts from author to editor</a:t>
            </a:r>
          </a:p>
        </p:txBody>
      </p:sp>
      <p:sp>
        <p:nvSpPr>
          <p:cNvPr id="6" name="Rounded Rectangle 5"/>
          <p:cNvSpPr/>
          <p:nvPr/>
        </p:nvSpPr>
        <p:spPr>
          <a:xfrm>
            <a:off x="731520" y="1737360"/>
            <a:ext cx="5303520" cy="4526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19456"/>
          <a:lstStyle/>
          <a:p>
            <a:pPr algn="ctr">
              <a:defRPr sz="1600" b="1">
                <a:solidFill>
                  <a:srgbClr val="0284C7"/>
                </a:solidFill>
              </a:defRPr>
            </a:pPr>
            <a:r>
              <a:t>THE ELEVATION OF RESEARCH ROLES</a:t>
            </a:r>
          </a:p>
          <a:p>
            <a:pPr>
              <a:spcBef>
                <a:spcPts val="1000"/>
              </a:spcBef>
              <a:defRPr sz="1800" b="1">
                <a:solidFill>
                  <a:srgbClr val="1E3A8A"/>
                </a:solidFill>
              </a:defRPr>
            </a:pPr>
            <a:r>
              <a:t>➔ P.I. / Senior Scholar</a:t>
            </a:r>
          </a:p>
          <a:p>
            <a:pPr>
              <a:spcBef>
                <a:spcPts val="200"/>
              </a:spcBef>
              <a:defRPr sz="1600">
                <a:solidFill>
                  <a:srgbClr val="475569"/>
                </a:solidFill>
              </a:defRPr>
            </a:pPr>
            <a:r>
              <a:t>Higher-level design, theoretical synthesis, ethics</a:t>
            </a:r>
          </a:p>
          <a:p>
            <a:pPr>
              <a:spcBef>
                <a:spcPts val="1000"/>
              </a:spcBef>
              <a:defRPr sz="1800" b="1">
                <a:solidFill>
                  <a:srgbClr val="1E3A8A"/>
                </a:solidFill>
              </a:defRPr>
            </a:pPr>
            <a:r>
              <a:t>➔ Supervisor / Postdoc</a:t>
            </a:r>
          </a:p>
          <a:p>
            <a:pPr>
              <a:spcBef>
                <a:spcPts val="200"/>
              </a:spcBef>
              <a:defRPr sz="1600">
                <a:solidFill>
                  <a:srgbClr val="475569"/>
                </a:solidFill>
              </a:defRPr>
            </a:pPr>
            <a:r>
              <a:t>Methodological direction (what the P.I. used to do)</a:t>
            </a:r>
          </a:p>
          <a:p>
            <a:pPr>
              <a:spcBef>
                <a:spcPts val="1000"/>
              </a:spcBef>
              <a:defRPr sz="1800" b="1">
                <a:solidFill>
                  <a:srgbClr val="1E3A8A"/>
                </a:solidFill>
              </a:defRPr>
            </a:pPr>
            <a:r>
              <a:t>➔ Research Assistant</a:t>
            </a:r>
          </a:p>
          <a:p>
            <a:pPr>
              <a:spcBef>
                <a:spcPts val="200"/>
              </a:spcBef>
              <a:defRPr sz="1600">
                <a:solidFill>
                  <a:srgbClr val="475569"/>
                </a:solidFill>
              </a:defRPr>
            </a:pPr>
            <a:r>
              <a:t>Critical audit &amp; apparatus collation (supervisor work)</a:t>
            </a:r>
          </a:p>
          <a:p>
            <a:pPr>
              <a:spcBef>
                <a:spcPts val="1000"/>
              </a:spcBef>
              <a:defRPr sz="1800" b="1">
                <a:solidFill>
                  <a:srgbClr val="1E3A8A"/>
                </a:solidFill>
              </a:defRPr>
            </a:pPr>
            <a:r>
              <a:t>➔ Computer / AI</a:t>
            </a:r>
          </a:p>
          <a:p>
            <a:pPr>
              <a:spcBef>
                <a:spcPts val="200"/>
              </a:spcBef>
              <a:defRPr sz="1600">
                <a:solidFill>
                  <a:srgbClr val="475569"/>
                </a:solidFill>
              </a:defRPr>
            </a:pPr>
            <a:r>
              <a:t>Initial candidate transcription (what R.A.s used to do)</a:t>
            </a:r>
          </a:p>
        </p:txBody>
      </p:sp>
      <p:sp>
        <p:nvSpPr>
          <p:cNvPr id="7" name="Rounded Rectangle 6"/>
          <p:cNvSpPr/>
          <p:nvPr/>
        </p:nvSpPr>
        <p:spPr>
          <a:xfrm>
            <a:off x="6309360" y="1737360"/>
            <a:ext cx="5150815" cy="4526280"/>
          </a:xfrm>
          <a:prstGeom prst="roundRect">
            <a:avLst/>
          </a:prstGeom>
          <a:solidFill>
            <a:srgbClr val="F1F5F9"/>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19456"/>
          <a:lstStyle/>
          <a:p>
            <a:pPr algn="ctr">
              <a:defRPr sz="1600" b="1">
                <a:solidFill>
                  <a:srgbClr val="0284C7"/>
                </a:solidFill>
              </a:defRPr>
            </a:pPr>
            <a:r>
              <a:t>R.A. AS SCHOLARLY AUDITOR</a:t>
            </a:r>
          </a:p>
          <a:p>
            <a:pPr>
              <a:spcBef>
                <a:spcPts val="400"/>
              </a:spcBef>
              <a:defRPr sz="2000" b="1">
                <a:solidFill>
                  <a:srgbClr val="0F172A"/>
                </a:solidFill>
              </a:defRPr>
            </a:pPr>
            <a:r>
              <a:t>Demarquis Moss: Lead Auditor</a:t>
            </a:r>
          </a:p>
          <a:p>
            <a:pPr>
              <a:spcBef>
                <a:spcPts val="800"/>
              </a:spcBef>
              <a:defRPr sz="1600">
                <a:solidFill>
                  <a:srgbClr val="0F172A"/>
                </a:solidFill>
              </a:defRPr>
            </a:pPr>
            <a:r>
              <a:t>• Ruled on disputed Latin readings against Chaparro Gómez's critical edition.</a:t>
            </a:r>
          </a:p>
          <a:p>
            <a:pPr>
              <a:spcBef>
                <a:spcPts val="800"/>
              </a:spcBef>
              <a:defRPr sz="1600">
                <a:solidFill>
                  <a:srgbClr val="0F172A"/>
                </a:solidFill>
              </a:defRPr>
            </a:pPr>
            <a:r>
              <a:t>• Diagnostic Validity: Audited prompt suites for authentic palaeographical tests.</a:t>
            </a:r>
          </a:p>
          <a:p>
            <a:pPr>
              <a:spcBef>
                <a:spcPts val="800"/>
              </a:spcBef>
              <a:defRPr sz="1600">
                <a:solidFill>
                  <a:srgbClr val="0F172A"/>
                </a:solidFill>
              </a:defRPr>
            </a:pPr>
            <a:r>
              <a:t>• Judge Calibrations: Screened AI judges against human scholarly ground truth.</a:t>
            </a:r>
          </a:p>
          <a:p>
            <a:pPr>
              <a:spcBef>
                <a:spcPts val="800"/>
              </a:spcBef>
              <a:defRPr sz="1600">
                <a:solidFill>
                  <a:srgbClr val="0F172A"/>
                </a:solidFill>
              </a:defRPr>
            </a:pPr>
            <a:r>
              <a:t>• Editorial Leadership: Conducted supervisory research formerly reserved for postdocs.</a:t>
            </a:r>
          </a:p>
          <a:p>
            <a:pPr>
              <a:spcBef>
                <a:spcPts val="1200"/>
              </a:spcBef>
              <a:defRPr sz="1700" b="1">
                <a:solidFill>
                  <a:srgbClr val="1E3A8A"/>
                </a:solidFill>
              </a:defRPr>
            </a:pPr>
            <a:r>
              <a:t>➔ Result: Every team member does higher-level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9 · PEDAGOGICAL FRAMEWORK</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Teaching the Ladder: The Digital Methods Course</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One phase a week, taught three ways: students must learn the entire ladder</a:t>
            </a:r>
          </a:p>
        </p:txBody>
      </p:sp>
      <p:sp>
        <p:nvSpPr>
          <p:cNvPr id="6" name="Rounded Rectangle 5"/>
          <p:cNvSpPr/>
          <p:nvPr/>
        </p:nvSpPr>
        <p:spPr>
          <a:xfrm>
            <a:off x="731520" y="1737360"/>
            <a:ext cx="3328416" cy="333756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19456"/>
          <a:lstStyle/>
          <a:p>
            <a:pPr algn="ctr">
              <a:defRPr sz="1600" b="1">
                <a:solidFill>
                  <a:srgbClr val="1E3A8A"/>
                </a:solidFill>
              </a:defRPr>
            </a:pPr>
            <a:r>
              <a:t>MEETING 1: BY HAND</a:t>
            </a:r>
          </a:p>
          <a:p>
            <a:pPr>
              <a:spcBef>
                <a:spcPts val="300"/>
              </a:spcBef>
              <a:defRPr sz="1800" b="1">
                <a:solidFill>
                  <a:srgbClr val="0F172A"/>
                </a:solidFill>
              </a:defRPr>
            </a:pPr>
            <a:r>
              <a:t>Direct Experience</a:t>
            </a:r>
          </a:p>
          <a:p>
            <a:pPr>
              <a:spcBef>
                <a:spcPts val="800"/>
              </a:spcBef>
              <a:defRPr sz="1600">
                <a:solidFill>
                  <a:srgbClr val="475569"/>
                </a:solidFill>
              </a:defRPr>
            </a:pPr>
            <a:r>
              <a:t>• Type &amp; decipher data manually.</a:t>
            </a:r>
          </a:p>
          <a:p>
            <a:pPr>
              <a:spcBef>
                <a:spcPts val="800"/>
              </a:spcBef>
              <a:defRPr sz="1600">
                <a:solidFill>
                  <a:srgbClr val="475569"/>
                </a:solidFill>
              </a:defRPr>
            </a:pPr>
            <a:r>
              <a:t>• Builds palaeographical intuition.</a:t>
            </a:r>
          </a:p>
          <a:p>
            <a:pPr>
              <a:spcBef>
                <a:spcPts val="800"/>
              </a:spcBef>
              <a:defRPr sz="1600">
                <a:solidFill>
                  <a:srgbClr val="475569"/>
                </a:solidFill>
              </a:defRPr>
            </a:pPr>
            <a:r>
              <a:t>• Foundation for critical literacy.</a:t>
            </a:r>
          </a:p>
        </p:txBody>
      </p:sp>
      <p:sp>
        <p:nvSpPr>
          <p:cNvPr id="7" name="Rounded Rectangle 6"/>
          <p:cNvSpPr/>
          <p:nvPr/>
        </p:nvSpPr>
        <p:spPr>
          <a:xfrm>
            <a:off x="4425696" y="1737360"/>
            <a:ext cx="3328416" cy="33375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19456"/>
          <a:lstStyle/>
          <a:p>
            <a:pPr algn="ctr">
              <a:defRPr sz="1600" b="1">
                <a:solidFill>
                  <a:srgbClr val="0284C7"/>
                </a:solidFill>
              </a:defRPr>
            </a:pPr>
            <a:r>
              <a:t>MEETING 2: PRE-AI TOOLS</a:t>
            </a:r>
          </a:p>
          <a:p>
            <a:pPr>
              <a:spcBef>
                <a:spcPts val="300"/>
              </a:spcBef>
              <a:defRPr sz="1800" b="1">
                <a:solidFill>
                  <a:srgbClr val="0F172A"/>
                </a:solidFill>
              </a:defRPr>
            </a:pPr>
            <a:r>
              <a:t>Computational Tools</a:t>
            </a:r>
          </a:p>
          <a:p>
            <a:pPr>
              <a:spcBef>
                <a:spcPts val="800"/>
              </a:spcBef>
              <a:defRPr sz="1600">
                <a:solidFill>
                  <a:srgbClr val="475569"/>
                </a:solidFill>
              </a:defRPr>
            </a:pPr>
            <a:r>
              <a:t>• Deterministic algorithms &amp; regex.</a:t>
            </a:r>
          </a:p>
          <a:p>
            <a:pPr>
              <a:spcBef>
                <a:spcPts val="800"/>
              </a:spcBef>
              <a:defRPr sz="1600">
                <a:solidFill>
                  <a:srgbClr val="475569"/>
                </a:solidFill>
              </a:defRPr>
            </a:pPr>
            <a:r>
              <a:t>• CollateX, treebanks, databases.</a:t>
            </a:r>
          </a:p>
          <a:p>
            <a:pPr>
              <a:spcBef>
                <a:spcPts val="800"/>
              </a:spcBef>
              <a:defRPr sz="1600">
                <a:solidFill>
                  <a:srgbClr val="475569"/>
                </a:solidFill>
              </a:defRPr>
            </a:pPr>
            <a:r>
              <a:t>• Fast, rule-governed processing.</a:t>
            </a:r>
          </a:p>
        </p:txBody>
      </p:sp>
      <p:sp>
        <p:nvSpPr>
          <p:cNvPr id="8" name="Rounded Rectangle 7"/>
          <p:cNvSpPr/>
          <p:nvPr/>
        </p:nvSpPr>
        <p:spPr>
          <a:xfrm>
            <a:off x="8119872" y="1737360"/>
            <a:ext cx="3328416" cy="333756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19456"/>
          <a:lstStyle/>
          <a:p>
            <a:pPr algn="ctr">
              <a:defRPr sz="1600" b="1">
                <a:solidFill>
                  <a:srgbClr val="B45309"/>
                </a:solidFill>
              </a:defRPr>
            </a:pPr>
            <a:r>
              <a:t>MEETING 3: GENERAL LLMs</a:t>
            </a:r>
          </a:p>
          <a:p>
            <a:pPr>
              <a:spcBef>
                <a:spcPts val="300"/>
              </a:spcBef>
              <a:defRPr sz="1800" b="1">
                <a:solidFill>
                  <a:srgbClr val="0F172A"/>
                </a:solidFill>
              </a:defRPr>
            </a:pPr>
            <a:r>
              <a:t>Critical Editor</a:t>
            </a:r>
          </a:p>
          <a:p>
            <a:pPr>
              <a:spcBef>
                <a:spcPts val="800"/>
              </a:spcBef>
              <a:defRPr sz="1600">
                <a:solidFill>
                  <a:srgbClr val="475569"/>
                </a:solidFill>
              </a:defRPr>
            </a:pPr>
            <a:r>
              <a:t>• Shape inputs: prompts &amp; schemas.</a:t>
            </a:r>
          </a:p>
          <a:p>
            <a:pPr>
              <a:spcBef>
                <a:spcPts val="800"/>
              </a:spcBef>
              <a:defRPr sz="1600">
                <a:solidFill>
                  <a:srgbClr val="475569"/>
                </a:solidFill>
              </a:defRPr>
            </a:pPr>
            <a:r>
              <a:t>• Curate &amp; audit AI draft outputs.</a:t>
            </a:r>
          </a:p>
          <a:p>
            <a:pPr>
              <a:spcBef>
                <a:spcPts val="800"/>
              </a:spcBef>
              <a:defRPr sz="1600">
                <a:solidFill>
                  <a:srgbClr val="475569"/>
                </a:solidFill>
              </a:defRPr>
            </a:pPr>
            <a:r>
              <a:t>• Trains real-world editorial judgment.</a:t>
            </a:r>
          </a:p>
        </p:txBody>
      </p:sp>
      <p:sp>
        <p:nvSpPr>
          <p:cNvPr id="9" name="Rounded Rectangle 8"/>
          <p:cNvSpPr/>
          <p:nvPr/>
        </p:nvSpPr>
        <p:spPr>
          <a:xfrm>
            <a:off x="731520" y="5303520"/>
            <a:ext cx="10728655" cy="100584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46304"/>
          <a:lstStyle/>
          <a:p>
            <a:pPr algn="ctr">
              <a:defRPr sz="1600" b="1">
                <a:solidFill>
                  <a:srgbClr val="B45309"/>
                </a:solidFill>
              </a:defRPr>
            </a:pPr>
            <a:r>
              <a:t>THE CARDINAL PEDAGOGICAL PRINCIPLE:</a:t>
            </a:r>
          </a:p>
          <a:p>
            <a:pPr algn="ctr">
              <a:spcBef>
                <a:spcPts val="300"/>
              </a:spcBef>
              <a:defRPr sz="2000" b="1" i="1">
                <a:solidFill>
                  <a:srgbClr val="0F172A"/>
                </a:solidFill>
              </a:defRPr>
            </a:pPr>
            <a:r>
              <a:t>"You cannot judge a transcription you couldn't have made yourself."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SLIDE 10 · PRACTICAL RECOMMENDATIONS</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Model Recommendations: This Week's Snapshot</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September 2026 snapshot — models change rapidly, but workflow principles endure</a:t>
            </a:r>
          </a:p>
        </p:txBody>
      </p:sp>
      <p:graphicFrame>
        <p:nvGraphicFramePr>
          <p:cNvPr id="6" name="Table 5"/>
          <p:cNvGraphicFramePr>
            <a:graphicFrameLocks noGrp="1"/>
          </p:cNvGraphicFramePr>
          <p:nvPr/>
        </p:nvGraphicFramePr>
        <p:xfrm>
          <a:off x="731520" y="1737360"/>
          <a:ext cx="10728655" cy="2377440"/>
        </p:xfrm>
        <a:graphic>
          <a:graphicData uri="http://schemas.openxmlformats.org/drawingml/2006/table">
            <a:tbl>
              <a:tblPr firstRow="1" bandRow="1">
                <a:tableStyleId>{5C22544A-7EE6-4342-B048-85BDC9FD1C3A}</a:tableStyleId>
              </a:tblPr>
              <a:tblGrid>
                <a:gridCol w="2103120"/>
                <a:gridCol w="3108960"/>
                <a:gridCol w="3687775"/>
                <a:gridCol w="1828800"/>
              </a:tblGrid>
              <a:tr h="396240">
                <a:tc>
                  <a:txBody>
                    <a:bodyPr/>
                    <a:lstStyle/>
                    <a:p>
                      <a:pPr>
                        <a:defRPr sz="1600" b="1">
                          <a:solidFill>
                            <a:srgbClr val="FFFFFF"/>
                          </a:solidFill>
                        </a:defRPr>
                      </a:pPr>
                      <a:r>
                        <a:t>PROJECT NEED</a:t>
                      </a:r>
                    </a:p>
                  </a:txBody>
                  <a:tcPr>
                    <a:solidFill>
                      <a:srgbClr val="1E3A8A"/>
                    </a:solidFill>
                  </a:tcPr>
                </a:tc>
                <a:tc>
                  <a:txBody>
                    <a:bodyPr/>
                    <a:lstStyle/>
                    <a:p>
                      <a:pPr>
                        <a:defRPr sz="1600" b="1">
                          <a:solidFill>
                            <a:srgbClr val="FFFFFF"/>
                          </a:solidFill>
                        </a:defRPr>
                      </a:pPr>
                      <a:r>
                        <a:t>RECOMMENDED MODEL</a:t>
                      </a:r>
                    </a:p>
                  </a:txBody>
                  <a:tcPr>
                    <a:solidFill>
                      <a:srgbClr val="1E3A8A"/>
                    </a:solidFill>
                  </a:tcPr>
                </a:tc>
                <a:tc>
                  <a:txBody>
                    <a:bodyPr/>
                    <a:lstStyle/>
                    <a:p>
                      <a:pPr>
                        <a:defRPr sz="1600" b="1">
                          <a:solidFill>
                            <a:srgbClr val="FFFFFF"/>
                          </a:solidFill>
                        </a:defRPr>
                      </a:pPr>
                      <a:r>
                        <a:t>BENCHMARK EVIDENCE</a:t>
                      </a:r>
                    </a:p>
                  </a:txBody>
                  <a:tcPr>
                    <a:solidFill>
                      <a:srgbClr val="1E3A8A"/>
                    </a:solidFill>
                  </a:tcPr>
                </a:tc>
                <a:tc>
                  <a:txBody>
                    <a:bodyPr/>
                    <a:lstStyle/>
                    <a:p>
                      <a:pPr>
                        <a:defRPr sz="1600" b="1">
                          <a:solidFill>
                            <a:srgbClr val="FFFFFF"/>
                          </a:solidFill>
                        </a:defRPr>
                      </a:pPr>
                      <a:r>
                        <a:t>COST / SUITE</a:t>
                      </a:r>
                    </a:p>
                  </a:txBody>
                  <a:tcPr>
                    <a:solidFill>
                      <a:srgbClr val="1E3A8A"/>
                    </a:solidFill>
                  </a:tcPr>
                </a:tc>
              </a:tr>
              <a:tr h="396240">
                <a:tc>
                  <a:txBody>
                    <a:bodyPr/>
                    <a:lstStyle/>
                    <a:p>
                      <a:pPr>
                        <a:defRPr sz="1600"/>
                      </a:pPr>
                      <a:r>
                        <a:t>Budget Project</a:t>
                      </a:r>
                    </a:p>
                  </a:txBody>
                  <a:tcPr>
                    <a:solidFill>
                      <a:srgbClr val="FFFFFF"/>
                    </a:solidFill>
                  </a:tcPr>
                </a:tc>
                <a:tc>
                  <a:txBody>
                    <a:bodyPr/>
                    <a:lstStyle/>
                    <a:p>
                      <a:pPr>
                        <a:defRPr sz="1600"/>
                      </a:pPr>
                      <a:r>
                        <a:t>Gemini 3.7 Flash (low)</a:t>
                      </a:r>
                    </a:p>
                  </a:txBody>
                  <a:tcPr>
                    <a:solidFill>
                      <a:srgbClr val="FFFFFF"/>
                    </a:solidFill>
                  </a:tcPr>
                </a:tc>
                <a:tc>
                  <a:txBody>
                    <a:bodyPr/>
                    <a:lstStyle/>
                    <a:p>
                      <a:pPr>
                        <a:defRPr sz="1600"/>
                      </a:pPr>
                      <a:r>
                        <a:t>80.4 score · 87s latency</a:t>
                      </a:r>
                    </a:p>
                  </a:txBody>
                  <a:tcPr>
                    <a:solidFill>
                      <a:srgbClr val="FFFFFF"/>
                    </a:solidFill>
                  </a:tcPr>
                </a:tc>
                <a:tc>
                  <a:txBody>
                    <a:bodyPr/>
                    <a:lstStyle/>
                    <a:p>
                      <a:pPr>
                        <a:defRPr sz="1600"/>
                      </a:pPr>
                      <a:r>
                        <a:t>$0.14 / suite</a:t>
                      </a:r>
                    </a:p>
                  </a:txBody>
                  <a:tcPr>
                    <a:solidFill>
                      <a:srgbClr val="FFFFFF"/>
                    </a:solidFill>
                  </a:tcPr>
                </a:tc>
              </a:tr>
              <a:tr h="396240">
                <a:tc>
                  <a:txBody>
                    <a:bodyPr/>
                    <a:lstStyle/>
                    <a:p>
                      <a:pPr>
                        <a:defRPr sz="1600"/>
                      </a:pPr>
                      <a:r>
                        <a:t>Balanced Production</a:t>
                      </a:r>
                    </a:p>
                  </a:txBody>
                  <a:tcPr>
                    <a:solidFill>
                      <a:srgbClr val="F1F5F9"/>
                    </a:solidFill>
                  </a:tcPr>
                </a:tc>
                <a:tc>
                  <a:txBody>
                    <a:bodyPr/>
                    <a:lstStyle/>
                    <a:p>
                      <a:pPr>
                        <a:defRPr sz="1600"/>
                      </a:pPr>
                      <a:r>
                        <a:t>GPT-6 Astra (none)</a:t>
                      </a:r>
                    </a:p>
                  </a:txBody>
                  <a:tcPr>
                    <a:solidFill>
                      <a:srgbClr val="F1F5F9"/>
                    </a:solidFill>
                  </a:tcPr>
                </a:tc>
                <a:tc>
                  <a:txBody>
                    <a:bodyPr/>
                    <a:lstStyle/>
                    <a:p>
                      <a:pPr>
                        <a:defRPr sz="1600"/>
                      </a:pPr>
                      <a:r>
                        <a:t>83.5 score · 292s latency</a:t>
                      </a:r>
                    </a:p>
                  </a:txBody>
                  <a:tcPr>
                    <a:solidFill>
                      <a:srgbClr val="F1F5F9"/>
                    </a:solidFill>
                  </a:tcPr>
                </a:tc>
                <a:tc>
                  <a:txBody>
                    <a:bodyPr/>
                    <a:lstStyle/>
                    <a:p>
                      <a:pPr>
                        <a:defRPr sz="1600"/>
                      </a:pPr>
                      <a:r>
                        <a:t>$0.60 / suite</a:t>
                      </a:r>
                    </a:p>
                  </a:txBody>
                  <a:tcPr>
                    <a:solidFill>
                      <a:srgbClr val="F1F5F9"/>
                    </a:solidFill>
                  </a:tcPr>
                </a:tc>
              </a:tr>
              <a:tr h="396240">
                <a:tc>
                  <a:txBody>
                    <a:bodyPr/>
                    <a:lstStyle/>
                    <a:p>
                      <a:pPr>
                        <a:defRPr sz="1600"/>
                      </a:pPr>
                      <a:r>
                        <a:t>Highest Quality</a:t>
                      </a:r>
                    </a:p>
                  </a:txBody>
                  <a:tcPr>
                    <a:solidFill>
                      <a:srgbClr val="FFFFFF"/>
                    </a:solidFill>
                  </a:tcPr>
                </a:tc>
                <a:tc>
                  <a:txBody>
                    <a:bodyPr/>
                    <a:lstStyle/>
                    <a:p>
                      <a:pPr>
                        <a:defRPr sz="1600"/>
                      </a:pPr>
                      <a:r>
                        <a:t>Claude Fable 5.1 (none)</a:t>
                      </a:r>
                    </a:p>
                  </a:txBody>
                  <a:tcPr>
                    <a:solidFill>
                      <a:srgbClr val="FFFFFF"/>
                    </a:solidFill>
                  </a:tcPr>
                </a:tc>
                <a:tc>
                  <a:txBody>
                    <a:bodyPr/>
                    <a:lstStyle/>
                    <a:p>
                      <a:pPr>
                        <a:defRPr sz="1600"/>
                      </a:pPr>
                      <a:r>
                        <a:t>90.3 score · 504s latency</a:t>
                      </a:r>
                    </a:p>
                  </a:txBody>
                  <a:tcPr>
                    <a:solidFill>
                      <a:srgbClr val="FFFFFF"/>
                    </a:solidFill>
                  </a:tcPr>
                </a:tc>
                <a:tc>
                  <a:txBody>
                    <a:bodyPr/>
                    <a:lstStyle/>
                    <a:p>
                      <a:pPr>
                        <a:defRPr sz="1600"/>
                      </a:pPr>
                      <a:r>
                        <a:t>$1.72 / suite</a:t>
                      </a:r>
                    </a:p>
                  </a:txBody>
                  <a:tcPr>
                    <a:solidFill>
                      <a:srgbClr val="FFFFFF"/>
                    </a:solidFill>
                  </a:tcPr>
                </a:tc>
              </a:tr>
              <a:tr h="396240">
                <a:tc>
                  <a:txBody>
                    <a:bodyPr/>
                    <a:lstStyle/>
                    <a:p>
                      <a:pPr>
                        <a:defRPr sz="1600"/>
                      </a:pPr>
                      <a:r>
                        <a:t>Collation</a:t>
                      </a:r>
                    </a:p>
                  </a:txBody>
                  <a:tcPr>
                    <a:solidFill>
                      <a:srgbClr val="F1F5F9"/>
                    </a:solidFill>
                  </a:tcPr>
                </a:tc>
                <a:tc>
                  <a:txBody>
                    <a:bodyPr/>
                    <a:lstStyle/>
                    <a:p>
                      <a:pPr>
                        <a:defRPr sz="1600"/>
                      </a:pPr>
                      <a:r>
                        <a:t>Grok 4.7 (low) / GPT-6 Astra</a:t>
                      </a:r>
                    </a:p>
                  </a:txBody>
                  <a:tcPr>
                    <a:solidFill>
                      <a:srgbClr val="F1F5F9"/>
                    </a:solidFill>
                  </a:tcPr>
                </a:tc>
                <a:tc>
                  <a:txBody>
                    <a:bodyPr/>
                    <a:lstStyle/>
                    <a:p>
                      <a:pPr>
                        <a:defRPr sz="1600"/>
                      </a:pPr>
                      <a:r>
                        <a:t>96.7 / 94.5 task score</a:t>
                      </a:r>
                    </a:p>
                  </a:txBody>
                  <a:tcPr>
                    <a:solidFill>
                      <a:srgbClr val="F1F5F9"/>
                    </a:solidFill>
                  </a:tcPr>
                </a:tc>
                <a:tc>
                  <a:txBody>
                    <a:bodyPr/>
                    <a:lstStyle/>
                    <a:p>
                      <a:pPr>
                        <a:defRPr sz="1600"/>
                      </a:pPr>
                      <a:r>
                        <a:t>Sub-task</a:t>
                      </a:r>
                    </a:p>
                  </a:txBody>
                  <a:tcPr>
                    <a:solidFill>
                      <a:srgbClr val="F1F5F9"/>
                    </a:solidFill>
                  </a:tcPr>
                </a:tc>
              </a:tr>
              <a:tr h="396240">
                <a:tc>
                  <a:txBody>
                    <a:bodyPr/>
                    <a:lstStyle/>
                    <a:p>
                      <a:pPr>
                        <a:defRPr sz="1600"/>
                      </a:pPr>
                      <a:r>
                        <a:t>Translation</a:t>
                      </a:r>
                    </a:p>
                  </a:txBody>
                  <a:tcPr>
                    <a:solidFill>
                      <a:srgbClr val="FFFFFF"/>
                    </a:solidFill>
                  </a:tcPr>
                </a:tc>
                <a:tc>
                  <a:txBody>
                    <a:bodyPr/>
                    <a:lstStyle/>
                    <a:p>
                      <a:pPr>
                        <a:defRPr sz="1600"/>
                      </a:pPr>
                      <a:r>
                        <a:t>Gemini 3.1 Pro / Grok 4.7</a:t>
                      </a:r>
                    </a:p>
                  </a:txBody>
                  <a:tcPr>
                    <a:solidFill>
                      <a:srgbClr val="FFFFFF"/>
                    </a:solidFill>
                  </a:tcPr>
                </a:tc>
                <a:tc>
                  <a:txBody>
                    <a:bodyPr/>
                    <a:lstStyle/>
                    <a:p>
                      <a:pPr>
                        <a:defRPr sz="1600"/>
                      </a:pPr>
                      <a:r>
                        <a:t>97.0 / 97.0 task score</a:t>
                      </a:r>
                    </a:p>
                  </a:txBody>
                  <a:tcPr>
                    <a:solidFill>
                      <a:srgbClr val="FFFFFF"/>
                    </a:solidFill>
                  </a:tcPr>
                </a:tc>
                <a:tc>
                  <a:txBody>
                    <a:bodyPr/>
                    <a:lstStyle/>
                    <a:p>
                      <a:pPr>
                        <a:defRPr sz="1600"/>
                      </a:pPr>
                      <a:r>
                        <a:t>Sub-task</a:t>
                      </a:r>
                    </a:p>
                  </a:txBody>
                  <a:tcPr>
                    <a:solidFill>
                      <a:srgbClr val="FFFFFF"/>
                    </a:solidFill>
                  </a:tcPr>
                </a:tc>
              </a:tr>
            </a:tbl>
          </a:graphicData>
        </a:graphic>
      </p:graphicFrame>
      <p:sp>
        <p:nvSpPr>
          <p:cNvPr id="7" name="Rounded Rectangle 6"/>
          <p:cNvSpPr/>
          <p:nvPr/>
        </p:nvSpPr>
        <p:spPr>
          <a:xfrm>
            <a:off x="731520" y="4343400"/>
            <a:ext cx="3328416" cy="192024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600" b="1">
                <a:solidFill>
                  <a:srgbClr val="0284C7"/>
                </a:solidFill>
              </a:defRPr>
            </a:pPr>
            <a:r>
              <a:t>1. TURN REASONING DOWN</a:t>
            </a:r>
          </a:p>
          <a:p>
            <a:pPr>
              <a:spcBef>
                <a:spcPts val="600"/>
              </a:spcBef>
              <a:defRPr sz="1600">
                <a:solidFill>
                  <a:srgbClr val="0F172A"/>
                </a:solidFill>
              </a:defRPr>
            </a:pPr>
            <a:r>
              <a:t>High effort costs 4× more, runs 5× slower, and scores lower on philology.</a:t>
            </a:r>
          </a:p>
        </p:txBody>
      </p:sp>
      <p:sp>
        <p:nvSpPr>
          <p:cNvPr id="8" name="Rounded Rectangle 7"/>
          <p:cNvSpPr/>
          <p:nvPr/>
        </p:nvSpPr>
        <p:spPr>
          <a:xfrm>
            <a:off x="4425696" y="4343400"/>
            <a:ext cx="3328416" cy="192024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600" b="1">
                <a:solidFill>
                  <a:srgbClr val="B45309"/>
                </a:solidFill>
              </a:defRPr>
            </a:pPr>
            <a:r>
              <a:t>2. BEWARE FREE TIERS</a:t>
            </a:r>
          </a:p>
          <a:p>
            <a:pPr>
              <a:spcBef>
                <a:spcPts val="600"/>
              </a:spcBef>
              <a:defRPr sz="1600">
                <a:solidFill>
                  <a:srgbClr val="0F172A"/>
                </a:solidFill>
              </a:defRPr>
            </a:pPr>
            <a:r>
              <a:t>Good for tests, but fail on production runs due to hard quota exhaustion.</a:t>
            </a:r>
          </a:p>
        </p:txBody>
      </p:sp>
      <p:sp>
        <p:nvSpPr>
          <p:cNvPr id="9" name="Rounded Rectangle 8"/>
          <p:cNvSpPr/>
          <p:nvPr/>
        </p:nvSpPr>
        <p:spPr>
          <a:xfrm>
            <a:off x="8119872" y="4343400"/>
            <a:ext cx="3328416" cy="192024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600" b="1">
                <a:solidFill>
                  <a:srgbClr val="1E3A8A"/>
                </a:solidFill>
              </a:defRPr>
            </a:pPr>
            <a:r>
              <a:t>3. RUN DUAL FAMILIES</a:t>
            </a:r>
          </a:p>
          <a:p>
            <a:pPr>
              <a:spcBef>
                <a:spcPts val="600"/>
              </a:spcBef>
              <a:defRPr sz="1600">
                <a:solidFill>
                  <a:srgbClr val="0F172A"/>
                </a:solidFill>
              </a:defRPr>
            </a:pPr>
            <a:r>
              <a:t>Compare two distinct models; loci where they disagree pinpoint human review.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75488"/>
            <a:ext cx="10728655" cy="20116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219456"/>
          <a:lstStyle/>
          <a:p>
            <a:pPr algn="ctr">
              <a:defRPr sz="1600" b="1">
                <a:solidFill>
                  <a:srgbClr val="93C5FD"/>
                </a:solidFill>
              </a:defRPr>
            </a:pPr>
            <a:r>
              <a:t>CONCLUSION &amp; CORE THESIS</a:t>
            </a:r>
          </a:p>
          <a:p>
            <a:pPr>
              <a:spcBef>
                <a:spcPts val="400"/>
              </a:spcBef>
              <a:defRPr sz="3000" b="1">
                <a:solidFill>
                  <a:srgbClr val="FFFFFF"/>
                </a:solidFill>
              </a:defRPr>
            </a:pPr>
            <a:r>
              <a:t>From Author to Editor: Elevating the Team</a:t>
            </a:r>
          </a:p>
          <a:p>
            <a:pPr>
              <a:spcBef>
                <a:spcPts val="400"/>
              </a:spcBef>
              <a:defRPr sz="1800">
                <a:solidFill>
                  <a:srgbClr val="E0E7FF"/>
                </a:solidFill>
              </a:defRPr>
            </a:pPr>
            <a:r>
              <a:t>AI does not replace the scholar. It moves every member of the team up one rung:</a:t>
            </a:r>
            <a:br/>
            <a:r>
              <a:t>the machine drafts, the R.A. edits, and human effort concentrates at the start and end of the project.</a:t>
            </a:r>
          </a:p>
        </p:txBody>
      </p:sp>
      <p:sp>
        <p:nvSpPr>
          <p:cNvPr id="4" name="Rounded Rectangle 3"/>
          <p:cNvSpPr/>
          <p:nvPr/>
        </p:nvSpPr>
        <p:spPr>
          <a:xfrm>
            <a:off x="731520" y="2697480"/>
            <a:ext cx="6217920" cy="36576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56032"/>
          <a:lstStyle/>
          <a:p>
            <a:pPr algn="ctr">
              <a:defRPr sz="1600" b="1">
                <a:solidFill>
                  <a:srgbClr val="0284C7"/>
                </a:solidFill>
              </a:defRPr>
            </a:pPr>
            <a:r>
              <a:t>OPEN RESEARCH DELIVERABLES</a:t>
            </a:r>
          </a:p>
          <a:p>
            <a:pPr>
              <a:spcBef>
                <a:spcPts val="800"/>
              </a:spcBef>
              <a:defRPr sz="1600">
                <a:solidFill>
                  <a:srgbClr val="0F172A"/>
                </a:solidFill>
              </a:defRPr>
            </a:pPr>
            <a:r>
              <a:t>• editio-bench: Open 13-task benchmark suite &amp; consensus scoring harness.</a:t>
            </a:r>
          </a:p>
          <a:p>
            <a:pPr>
              <a:spcBef>
                <a:spcPts val="800"/>
              </a:spcBef>
              <a:defRPr sz="1600">
                <a:solidFill>
                  <a:srgbClr val="0F172A"/>
                </a:solidFill>
              </a:defRPr>
            </a:pPr>
            <a:r>
              <a:t>• PROVENANCE.md: Complete registry mapping every published score to its run.</a:t>
            </a:r>
          </a:p>
          <a:p>
            <a:pPr>
              <a:spcBef>
                <a:spcPts val="800"/>
              </a:spcBef>
              <a:defRPr sz="1600">
                <a:solidFill>
                  <a:srgbClr val="0F172A"/>
                </a:solidFill>
              </a:defRPr>
            </a:pPr>
            <a:r>
              <a:t>• Clean Suite Master: 57 verified configurations passing quality &amp; replay gates.</a:t>
            </a:r>
          </a:p>
          <a:p>
            <a:pPr>
              <a:spcBef>
                <a:spcPts val="800"/>
              </a:spcBef>
              <a:defRPr sz="1600">
                <a:solidFill>
                  <a:srgbClr val="0F172A"/>
                </a:solidFill>
              </a:defRPr>
            </a:pPr>
            <a:r>
              <a:t>• GitHub Repository: github.com/kmpenner/IDG (XML ground truth, code, data).</a:t>
            </a:r>
          </a:p>
        </p:txBody>
      </p:sp>
      <p:sp>
        <p:nvSpPr>
          <p:cNvPr id="5" name="Rounded Rectangle 4"/>
          <p:cNvSpPr/>
          <p:nvPr/>
        </p:nvSpPr>
        <p:spPr>
          <a:xfrm>
            <a:off x="7315200" y="2697480"/>
            <a:ext cx="4144975" cy="3657600"/>
          </a:xfrm>
          <a:prstGeom prst="roundRect">
            <a:avLst/>
          </a:prstGeom>
          <a:solidFill>
            <a:srgbClr val="F1F5F9"/>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56032"/>
          <a:lstStyle/>
          <a:p>
            <a:pPr algn="ctr">
              <a:defRPr sz="1600" b="1">
                <a:solidFill>
                  <a:srgbClr val="B45309"/>
                </a:solidFill>
              </a:defRPr>
            </a:pPr>
            <a:r>
              <a:t>PRESENTERS &amp; SUPPORT</a:t>
            </a:r>
          </a:p>
          <a:p>
            <a:pPr>
              <a:spcBef>
                <a:spcPts val="600"/>
              </a:spcBef>
              <a:defRPr sz="2000" b="1">
                <a:solidFill>
                  <a:srgbClr val="0F172A"/>
                </a:solidFill>
              </a:defRPr>
            </a:pPr>
            <a:r>
              <a:t>Dr. Ken M. Penner</a:t>
            </a:r>
          </a:p>
          <a:p>
            <a:pPr>
              <a:spcBef>
                <a:spcPts val="200"/>
              </a:spcBef>
              <a:defRPr sz="1600">
                <a:solidFill>
                  <a:srgbClr val="475569"/>
                </a:solidFill>
              </a:defRPr>
            </a:pPr>
            <a:r>
              <a:t>Principal Investigator · St. Francis Xavier University</a:t>
            </a:r>
            <a:br/>
            <a:r>
              <a:t>Email: kpenner@stfx.ca</a:t>
            </a:r>
          </a:p>
          <a:p>
            <a:pPr>
              <a:spcBef>
                <a:spcPts val="800"/>
              </a:spcBef>
              <a:defRPr sz="2000" b="1">
                <a:solidFill>
                  <a:srgbClr val="0F172A"/>
                </a:solidFill>
              </a:defRPr>
            </a:pPr>
            <a:r>
              <a:t>Demarquis Moss</a:t>
            </a:r>
          </a:p>
          <a:p>
            <a:pPr>
              <a:spcBef>
                <a:spcPts val="200"/>
              </a:spcBef>
              <a:defRPr sz="1600">
                <a:solidFill>
                  <a:srgbClr val="475569"/>
                </a:solidFill>
              </a:defRPr>
            </a:pPr>
            <a:r>
              <a:t>Lead Research Assistant &amp; Scholarly Quality Auditor</a:t>
            </a:r>
          </a:p>
          <a:p>
            <a:pPr>
              <a:spcBef>
                <a:spcPts val="1000"/>
              </a:spcBef>
              <a:defRPr sz="1600" b="1">
                <a:solidFill>
                  <a:srgbClr val="1E3A8A"/>
                </a:solidFill>
              </a:defRPr>
            </a:pPr>
            <a:r>
              <a:t>Supported by SSHRC IDG R0253025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728655" cy="320040"/>
          </a:xfrm>
          <a:prstGeom prst="rect">
            <a:avLst/>
          </a:prstGeom>
          <a:noFill/>
        </p:spPr>
        <p:txBody>
          <a:bodyPr wrap="square" lIns="0" tIns="0" rIns="0" bIns="0">
            <a:spAutoFit/>
          </a:bodyPr>
          <a:lstStyle/>
          <a:p>
            <a:pPr>
              <a:defRPr sz="1600" b="1">
                <a:solidFill>
                  <a:srgbClr val="0284C7"/>
                </a:solidFill>
                <a:latin typeface="Arial"/>
              </a:defRPr>
            </a:pPr>
            <a:r>
              <a:t>PANEL REFERENCE</a:t>
            </a:r>
          </a:p>
        </p:txBody>
      </p:sp>
      <p:sp>
        <p:nvSpPr>
          <p:cNvPr id="4" name="TextBox 3"/>
          <p:cNvSpPr txBox="1"/>
          <p:nvPr/>
        </p:nvSpPr>
        <p:spPr>
          <a:xfrm>
            <a:off x="731520" y="621792"/>
            <a:ext cx="10728655" cy="594360"/>
          </a:xfrm>
          <a:prstGeom prst="rect">
            <a:avLst/>
          </a:prstGeom>
          <a:noFill/>
        </p:spPr>
        <p:txBody>
          <a:bodyPr wrap="square" lIns="0" tIns="0" rIns="0" bIns="0">
            <a:spAutoFit/>
          </a:bodyPr>
          <a:lstStyle/>
          <a:p>
            <a:pPr>
              <a:defRPr sz="3000" b="1">
                <a:solidFill>
                  <a:srgbClr val="0F172A"/>
                </a:solidFill>
                <a:latin typeface="Arial"/>
              </a:defRPr>
            </a:pPr>
            <a:r>
              <a:t>Panel Q&amp;A Cheat Sheet</a:t>
            </a:r>
          </a:p>
        </p:txBody>
      </p:sp>
      <p:sp>
        <p:nvSpPr>
          <p:cNvPr id="5" name="TextBox 4"/>
          <p:cNvSpPr txBox="1"/>
          <p:nvPr/>
        </p:nvSpPr>
        <p:spPr>
          <a:xfrm>
            <a:off x="731520" y="1234440"/>
            <a:ext cx="10728655" cy="384048"/>
          </a:xfrm>
          <a:prstGeom prst="rect">
            <a:avLst/>
          </a:prstGeom>
          <a:noFill/>
        </p:spPr>
        <p:txBody>
          <a:bodyPr wrap="square" lIns="0" tIns="0" rIns="0" bIns="0">
            <a:spAutoFit/>
          </a:bodyPr>
          <a:lstStyle/>
          <a:p>
            <a:pPr>
              <a:defRPr sz="1700">
                <a:solidFill>
                  <a:srgbClr val="475569"/>
                </a:solidFill>
                <a:latin typeface="Arial"/>
              </a:defRPr>
            </a:pPr>
            <a:r>
              <a:t>Anticipated technical and methodological questions for the discussion period</a:t>
            </a:r>
          </a:p>
        </p:txBody>
      </p:sp>
      <p:sp>
        <p:nvSpPr>
          <p:cNvPr id="6" name="Rounded Rectangle 5"/>
          <p:cNvSpPr/>
          <p:nvPr/>
        </p:nvSpPr>
        <p:spPr>
          <a:xfrm>
            <a:off x="731520" y="1600200"/>
            <a:ext cx="10728655" cy="49377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09728"/>
          <a:lstStyle/>
          <a:p>
            <a:pPr algn="ctr"/>
          </a:p>
          <a:p>
            <a:pPr>
              <a:spcBef>
                <a:spcPts val="300"/>
              </a:spcBef>
              <a:defRPr sz="1700" b="1">
                <a:solidFill>
                  <a:srgbClr val="1E3A8A"/>
                </a:solidFill>
              </a:defRPr>
            </a:pPr>
            <a:r>
              <a:t>• Q1: Are models just reciting pre-trained printed editions?</a:t>
            </a:r>
          </a:p>
          <a:p>
            <a:pPr>
              <a:spcBef>
                <a:spcPts val="100"/>
              </a:spcBef>
              <a:defRPr sz="1600">
                <a:solidFill>
                  <a:srgbClr val="475569"/>
                </a:solidFill>
              </a:defRPr>
            </a:pPr>
            <a:r>
              <a:t>   ➔ No. Greek p.11 has no published diplomatic edition; Latin editions are normalized; Aramaic failed completely (80% CER).</a:t>
            </a:r>
          </a:p>
          <a:p>
            <a:pPr>
              <a:spcBef>
                <a:spcPts val="300"/>
              </a:spcBef>
              <a:defRPr sz="1700" b="1">
                <a:solidFill>
                  <a:srgbClr val="1E3A8A"/>
                </a:solidFill>
              </a:defRPr>
            </a:pPr>
            <a:r>
              <a:t>• Q2: What does this pipeline cost in actual research practice?</a:t>
            </a:r>
          </a:p>
          <a:p>
            <a:pPr>
              <a:spcBef>
                <a:spcPts val="100"/>
              </a:spcBef>
              <a:defRPr sz="1600">
                <a:solidFill>
                  <a:srgbClr val="475569"/>
                </a:solidFill>
              </a:defRPr>
            </a:pPr>
            <a:r>
              <a:t>   ➔ Budget setup was $0.14 for all 13 tasks (~1 cent/task). Frontier suite was $1.72 total. No supercomputers needed.</a:t>
            </a:r>
          </a:p>
          <a:p>
            <a:pPr>
              <a:spcBef>
                <a:spcPts val="300"/>
              </a:spcBef>
              <a:defRPr sz="1700" b="1">
                <a:solidFill>
                  <a:srgbClr val="1E3A8A"/>
                </a:solidFill>
              </a:defRPr>
            </a:pPr>
            <a:r>
              <a:t>• Q3: How solid is the 90 / 10 / 1 rule of thumb?</a:t>
            </a:r>
          </a:p>
          <a:p>
            <a:pPr>
              <a:spcBef>
                <a:spcPts val="100"/>
              </a:spcBef>
              <a:defRPr sz="1600">
                <a:solidFill>
                  <a:srgbClr val="475569"/>
                </a:solidFill>
              </a:defRPr>
            </a:pPr>
            <a:r>
              <a:t>   ➔ Project working impression on legible texts, verified by Greek CER 0.0365 (96% right). Breaks on broken leather.</a:t>
            </a:r>
          </a:p>
          <a:p>
            <a:pPr>
              <a:spcBef>
                <a:spcPts val="300"/>
              </a:spcBef>
              <a:defRPr sz="1700" b="1">
                <a:solidFill>
                  <a:srgbClr val="1E3A8A"/>
                </a:solidFill>
              </a:defRPr>
            </a:pPr>
            <a:r>
              <a:t>• Q4: Does this deskill undergraduate students and R.A.s?</a:t>
            </a:r>
          </a:p>
          <a:p>
            <a:pPr>
              <a:spcBef>
                <a:spcPts val="100"/>
              </a:spcBef>
              <a:defRPr sz="1600">
                <a:solidFill>
                  <a:srgbClr val="475569"/>
                </a:solidFill>
              </a:defRPr>
            </a:pPr>
            <a:r>
              <a:t>   ➔ No, it elevates them. The course keeps weekly 'by-hand' meetings: you cannot edit what you couldn't write yourself.</a:t>
            </a:r>
          </a:p>
          <a:p>
            <a:pPr>
              <a:spcBef>
                <a:spcPts val="300"/>
              </a:spcBef>
              <a:defRPr sz="1700" b="1">
                <a:solidFill>
                  <a:srgbClr val="1E3A8A"/>
                </a:solidFill>
              </a:defRPr>
            </a:pPr>
            <a:r>
              <a:t>• Q5: How are copyright and manuscript image rights governed?</a:t>
            </a:r>
          </a:p>
          <a:p>
            <a:pPr>
              <a:spcBef>
                <a:spcPts val="100"/>
              </a:spcBef>
              <a:defRPr sz="1600">
                <a:solidFill>
                  <a:srgbClr val="475569"/>
                </a:solidFill>
              </a:defRPr>
            </a:pPr>
            <a:r>
              <a:t>   ➔ Ingested under academic fair dealing at calibrated resolutions. Raw facsimiles remain under institutional ownership.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